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72600" y="-45720"/>
            <a:ext cx="2286000" cy="2286000"/>
          </a:xfrm>
          <a:prstGeom prst="ellipse">
            <a:avLst/>
          </a:prstGeom>
          <a:solidFill>
            <a:srgbClr val="FFE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120640"/>
            <a:ext cx="1645920" cy="1645920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iragino Maru Gothic ProN"/>
              </a:rPr>
              <a:t>第1回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2926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800" b="1">
                <a:solidFill>
                  <a:srgbClr val="FFFFFF"/>
                </a:solidFill>
                <a:latin typeface="Hiragino Maru Gothic ProN"/>
              </a:rPr>
              <a:t>パソコンって</a:t>
            </a:r>
          </a:p>
          <a:p>
            <a:pPr algn="ctr"/>
            <a:r>
              <a:rPr sz="8800" b="1">
                <a:solidFill>
                  <a:srgbClr val="FFFFFF"/>
                </a:solidFill>
                <a:latin typeface="Hiragino Maru Gothic ProN"/>
              </a:rPr>
              <a:t>なんだろう？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Hiragino Maru Gothic ProN"/>
              </a:rPr>
              <a:t>小学生プログラミング教室 ／ 初級コース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3327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  <a:latin typeface="Hiragino Maru Gothic ProN"/>
              </a:rPr>
              <a:t>🖥️  💻  ⌨️  🖱️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第1回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パソコンってなんだろう？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400" b="1">
                <a:solidFill>
                  <a:srgbClr val="FF6B6B"/>
                </a:solidFill>
                <a:latin typeface="Hiragino Maru Gothic ProN"/>
              </a:rPr>
              <a:t>こんにちは！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54864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560320"/>
            <a:ext cx="47548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6B6B"/>
                </a:solidFill>
                <a:latin typeface="Hiragino Maru Gothic ProN"/>
              </a:rPr>
              <a:t>きょうのこうし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200400"/>
            <a:ext cx="4754880" cy="2560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2A3D45"/>
                </a:solidFill>
                <a:latin typeface="Hiragino Maru Gothic ProN"/>
              </a:rPr>
              <a:t>ここにこうしのなまえ・じこしょうかい</a:t>
            </a:r>
          </a:p>
          <a:p>
            <a:pPr algn="l"/>
            <a:r>
              <a:rPr sz="2200" b="0">
                <a:solidFill>
                  <a:srgbClr val="2A3D45"/>
                </a:solidFill>
                <a:latin typeface="Hiragino Maru Gothic ProN"/>
              </a:rPr>
              <a:t/>
            </a:r>
          </a:p>
          <a:p>
            <a:pPr algn="l"/>
            <a:r>
              <a:rPr sz="2200" b="0">
                <a:solidFill>
                  <a:srgbClr val="2A3D45"/>
                </a:solidFill>
                <a:latin typeface="Hiragino Maru Gothic ProN"/>
              </a:rPr>
              <a:t>・すきなゲームは…</a:t>
            </a:r>
          </a:p>
          <a:p>
            <a:pPr algn="l"/>
            <a:r>
              <a:rPr sz="2200" b="0">
                <a:solidFill>
                  <a:srgbClr val="2A3D45"/>
                </a:solidFill>
                <a:latin typeface="Hiragino Maru Gothic ProN"/>
              </a:rPr>
              <a:t>・すきなたべものは…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286000"/>
            <a:ext cx="4572000" cy="3657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0" b="0">
                <a:solidFill>
                  <a:srgbClr val="2A3D45"/>
                </a:solidFill>
                <a:latin typeface="Hiragino Maru Gothic ProN"/>
              </a:rPr>
              <a:t>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 / 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第1回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パソコンってなんだろう？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800" b="1">
                <a:solidFill>
                  <a:srgbClr val="FF6B6B"/>
                </a:solidFill>
                <a:latin typeface="Hiragino Maru Gothic ProN"/>
              </a:rPr>
              <a:t>みんなは、なんてよぶ？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54864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651760"/>
            <a:ext cx="475488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A3D45"/>
                </a:solidFill>
                <a:latin typeface="Hiragino Maru Gothic ProN"/>
              </a:rPr>
              <a:t>なまえとすきなもの</a:t>
            </a:r>
          </a:p>
          <a:p>
            <a:pPr algn="l"/>
            <a:r>
              <a:rPr sz="2600" b="1">
                <a:solidFill>
                  <a:srgbClr val="2A3D45"/>
                </a:solidFill>
                <a:latin typeface="Hiragino Maru Gothic ProN"/>
              </a:rPr>
              <a:t>ひとことずつ！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931920"/>
            <a:ext cx="475488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2A3D45"/>
                </a:solidFill>
                <a:latin typeface="Hiragino Maru Gothic ProN"/>
              </a:rPr>
              <a:t>・なまえ</a:t>
            </a:r>
          </a:p>
          <a:p>
            <a:pPr algn="l"/>
            <a:r>
              <a:rPr sz="2200" b="0">
                <a:solidFill>
                  <a:srgbClr val="2A3D45"/>
                </a:solidFill>
                <a:latin typeface="Hiragino Maru Gothic ProN"/>
              </a:rPr>
              <a:t>・すきなあそび</a:t>
            </a:r>
          </a:p>
          <a:p>
            <a:pPr algn="l"/>
            <a:r>
              <a:rPr sz="2200" b="0">
                <a:solidFill>
                  <a:srgbClr val="2A3D45"/>
                </a:solidFill>
                <a:latin typeface="Hiragino Maru Gothic ProN"/>
              </a:rPr>
              <a:t>  または すきなゲーム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286000"/>
            <a:ext cx="4572000" cy="3657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0" b="0">
                <a:solidFill>
                  <a:srgbClr val="2A3D45"/>
                </a:solidFill>
                <a:latin typeface="Hiragino Maru Gothic ProN"/>
              </a:rPr>
              <a:t>🙋‍♀️🙋‍♂️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3 / 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3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1828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1">
                <a:solidFill>
                  <a:srgbClr val="FFE66D"/>
                </a:solidFill>
                <a:latin typeface="Hiragino Maru Gothic ProN"/>
              </a:rPr>
              <a:t>きょうのゴール</a:t>
            </a:r>
          </a:p>
        </p:txBody>
      </p:sp>
      <p:sp>
        <p:nvSpPr>
          <p:cNvPr id="4" name="Oval 3"/>
          <p:cNvSpPr/>
          <p:nvPr/>
        </p:nvSpPr>
        <p:spPr>
          <a:xfrm>
            <a:off x="9509760" y="548640"/>
            <a:ext cx="1097280" cy="109728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5303520"/>
            <a:ext cx="914400" cy="914400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4 / 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第1回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パソコンってなんだろう？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6B6B"/>
                </a:solidFill>
                <a:latin typeface="Hiragino Maru Gothic ProN"/>
              </a:rPr>
              <a:t>きょうのゴール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3327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65960"/>
            <a:ext cx="109728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4400" b="0">
                <a:solidFill>
                  <a:srgbClr val="2A3D45"/>
                </a:solidFill>
                <a:latin typeface="Hiragino Maru Gothic ProN"/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828800"/>
            <a:ext cx="868680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2A3D45"/>
                </a:solidFill>
                <a:latin typeface="Hiragino Maru Gothic ProN"/>
              </a:rPr>
              <a:t>「パソコン」がどんな道具か わかる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91840"/>
            <a:ext cx="103327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429000"/>
            <a:ext cx="109728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4400" b="0">
                <a:solidFill>
                  <a:srgbClr val="2A3D45"/>
                </a:solidFill>
                <a:latin typeface="Hiragino Maru Gothic ProN"/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291840"/>
            <a:ext cx="868680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2A3D45"/>
                </a:solidFill>
                <a:latin typeface="Hiragino Maru Gothic ProN"/>
              </a:rPr>
              <a:t>パソコンの中で なに がうごいているか わかる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754880"/>
            <a:ext cx="103327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892040"/>
            <a:ext cx="109728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4400" b="0">
                <a:solidFill>
                  <a:srgbClr val="2A3D45"/>
                </a:solidFill>
                <a:latin typeface="Hiragino Maru Gothic ProN"/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754880"/>
            <a:ext cx="868680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2A3D45"/>
                </a:solidFill>
                <a:latin typeface="Hiragino Maru Gothic ProN"/>
              </a:rPr>
              <a:t>じぶんで フォルダ と ファイル をつくれるようになる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5 / 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3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4ECDC4"/>
                </a:solidFill>
                <a:latin typeface="Hiragino Maru Gothic ProN"/>
              </a:rPr>
              <a:t>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1828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1">
                <a:solidFill>
                  <a:srgbClr val="FFE66D"/>
                </a:solidFill>
                <a:latin typeface="Hiragino Maru Gothic ProN"/>
              </a:rPr>
              <a:t>パソコンってどんなもの？</a:t>
            </a:r>
          </a:p>
        </p:txBody>
      </p:sp>
      <p:sp>
        <p:nvSpPr>
          <p:cNvPr id="5" name="Oval 4"/>
          <p:cNvSpPr/>
          <p:nvPr/>
        </p:nvSpPr>
        <p:spPr>
          <a:xfrm>
            <a:off x="9509760" y="548640"/>
            <a:ext cx="1097280" cy="109728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5303520"/>
            <a:ext cx="914400" cy="914400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6 / 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第1回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パソコンってなんだろう？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6B6B"/>
                </a:solidFill>
                <a:latin typeface="Hiragino Maru Gothic ProN"/>
              </a:rPr>
              <a:t>パソコンって、なに？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1645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0" b="0">
                <a:solidFill>
                  <a:srgbClr val="2A3D45"/>
                </a:solidFill>
                <a:latin typeface="Hiragino Maru Gothic ProN"/>
              </a:rPr>
              <a:t>🖥️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800" b="1">
                <a:solidFill>
                  <a:srgbClr val="FF6B6B"/>
                </a:solidFill>
                <a:latin typeface="Hiragino Maru Gothic ProN"/>
              </a:rPr>
              <a:t>パーソナル コンピューター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0">
                <a:solidFill>
                  <a:srgbClr val="2A3D45"/>
                </a:solidFill>
                <a:latin typeface="Hiragino Maru Gothic ProN"/>
              </a:rPr>
              <a:t>「じぶん用のコンピューター」っていういみ！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7 / 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第1回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パソコンってなんだろう？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FF6B6B"/>
                </a:solidFill>
                <a:latin typeface="Hiragino Maru Gothic ProN"/>
              </a:rPr>
              <a:t>こんなのも、ぜんぶパソコンのなかま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26974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2697480" cy="1463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0" b="0">
                <a:solidFill>
                  <a:srgbClr val="2A3D45"/>
                </a:solidFill>
                <a:latin typeface="Hiragino Maru Gothic ProN"/>
              </a:rPr>
              <a:t>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2A3D45"/>
                </a:solidFill>
                <a:latin typeface="Hiragino Maru Gothic ProN"/>
              </a:rPr>
              <a:t>ノートパソコン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103120"/>
            <a:ext cx="26974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2468880"/>
            <a:ext cx="2697480" cy="1463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0" b="0">
                <a:solidFill>
                  <a:srgbClr val="2A3D45"/>
                </a:solidFill>
                <a:latin typeface="Hiragino Maru Gothic ProN"/>
              </a:rPr>
              <a:t>🖥️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411480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2A3D45"/>
                </a:solidFill>
                <a:latin typeface="Hiragino Maru Gothic ProN"/>
              </a:rPr>
              <a:t>デスクトップ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26974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468880"/>
            <a:ext cx="2697480" cy="1463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0" b="0">
                <a:solidFill>
                  <a:srgbClr val="2A3D45"/>
                </a:solidFill>
                <a:latin typeface="Hiragino Maru Gothic ProN"/>
              </a:rPr>
              <a:t>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11480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2A3D45"/>
                </a:solidFill>
                <a:latin typeface="Hiragino Maru Gothic ProN"/>
              </a:rPr>
              <a:t>スマートフォン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2103120"/>
            <a:ext cx="26974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468880"/>
            <a:ext cx="2697480" cy="1463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0" b="0">
                <a:solidFill>
                  <a:srgbClr val="2A3D45"/>
                </a:solidFill>
                <a:latin typeface="Hiragino Maru Gothic ProN"/>
              </a:rPr>
              <a:t>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411480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2A3D45"/>
                </a:solidFill>
                <a:latin typeface="Hiragino Maru Gothic ProN"/>
              </a:rPr>
              <a:t>タブレット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2A3D45"/>
                </a:solidFill>
                <a:latin typeface="Hiragino Maru Gothic ProN"/>
              </a:rPr>
              <a:t>ぜんぶ コンピューター のなかま。やっていることは、じつはおんなじ！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8 / 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第1回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パソコンってなんだろう？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548640"/>
            <a:ext cx="2286000" cy="50292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2000" b="1">
                <a:solidFill>
                  <a:srgbClr val="FFFFFF"/>
                </a:solidFill>
                <a:latin typeface="Hiragino Maru Gothic ProN"/>
              </a:rPr>
              <a:t>クイズ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200" b="1">
                <a:solidFill>
                  <a:srgbClr val="2A3D45"/>
                </a:solidFill>
                <a:latin typeface="Hiragino Maru Gothic ProN"/>
              </a:rPr>
              <a:t>これはパソコンのなかま？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36576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36576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0">
                <a:solidFill>
                  <a:srgbClr val="2A3D45"/>
                </a:solidFill>
                <a:latin typeface="Hiragino Maru Gothic ProN"/>
              </a:rPr>
              <a:t>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A3D45"/>
                </a:solidFill>
                <a:latin typeface="Hiragino Maru Gothic ProN"/>
              </a:rPr>
              <a:t>ゲーム機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743200"/>
            <a:ext cx="36576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926080"/>
            <a:ext cx="36576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0">
                <a:solidFill>
                  <a:srgbClr val="2A3D45"/>
                </a:solidFill>
                <a:latin typeface="Hiragino Maru Gothic ProN"/>
              </a:rPr>
              <a:t>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29768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A3D45"/>
                </a:solidFill>
                <a:latin typeface="Hiragino Maru Gothic ProN"/>
              </a:rPr>
              <a:t>テレビ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743200"/>
            <a:ext cx="36576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926080"/>
            <a:ext cx="36576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0">
                <a:solidFill>
                  <a:srgbClr val="2A3D45"/>
                </a:solidFill>
                <a:latin typeface="Hiragino Maru Gothic ProN"/>
              </a:rPr>
              <a:t>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29768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A3D45"/>
                </a:solidFill>
                <a:latin typeface="Hiragino Maru Gothic ProN"/>
              </a:rPr>
              <a:t>くるま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FF6B6B"/>
                </a:solidFill>
                <a:latin typeface="Hiragino Maru Gothic ProN"/>
              </a:rPr>
              <a:t>こたえ：ぜんぶ「コンピューター入り」！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9 / 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3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4ECDC4"/>
                </a:solidFill>
                <a:latin typeface="Hiragino Maru Gothic ProN"/>
              </a:rPr>
              <a:t>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1828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1">
                <a:solidFill>
                  <a:srgbClr val="FFE66D"/>
                </a:solidFill>
                <a:latin typeface="Hiragino Maru Gothic ProN"/>
              </a:rPr>
              <a:t>パソコンの中はどうなってる？</a:t>
            </a:r>
          </a:p>
        </p:txBody>
      </p:sp>
      <p:sp>
        <p:nvSpPr>
          <p:cNvPr id="5" name="Oval 4"/>
          <p:cNvSpPr/>
          <p:nvPr/>
        </p:nvSpPr>
        <p:spPr>
          <a:xfrm>
            <a:off x="9509760" y="548640"/>
            <a:ext cx="1097280" cy="109728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5303520"/>
            <a:ext cx="914400" cy="914400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10 / 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第1回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パソコンってなんだろう？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F6B6B"/>
                </a:solidFill>
                <a:latin typeface="Hiragino Maru Gothic ProN"/>
              </a:rPr>
              <a:t>パソコンは「人間のからだ」とにている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03520" cy="4389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0">
                <a:solidFill>
                  <a:srgbClr val="2A3D45"/>
                </a:solidFill>
                <a:latin typeface="Hiragino Maru Gothic ProN"/>
              </a:rP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011680"/>
            <a:ext cx="42062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4ECDC4"/>
                </a:solidFill>
                <a:latin typeface="Hiragino Maru Gothic ProN"/>
              </a:rPr>
              <a:t>人間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4937760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2A3D45"/>
                </a:solidFill>
                <a:latin typeface="Hiragino Maru Gothic ProN"/>
              </a:rPr>
              <a:t>・あたま（考える）</a:t>
            </a:r>
          </a:p>
          <a:p>
            <a:pPr algn="l"/>
            <a:r>
              <a:rPr sz="2200" b="0">
                <a:solidFill>
                  <a:srgbClr val="2A3D45"/>
                </a:solidFill>
                <a:latin typeface="Hiragino Maru Gothic ProN"/>
              </a:rPr>
              <a:t>・つくえ（さぎょうする）</a:t>
            </a:r>
          </a:p>
          <a:p>
            <a:pPr algn="l"/>
            <a:r>
              <a:rPr sz="2200" b="0">
                <a:solidFill>
                  <a:srgbClr val="2A3D45"/>
                </a:solidFill>
                <a:latin typeface="Hiragino Maru Gothic ProN"/>
              </a:rPr>
              <a:t>・本だな（おぼえておく）</a:t>
            </a:r>
          </a:p>
          <a:p>
            <a:pPr algn="l"/>
            <a:r>
              <a:rPr sz="2200" b="0">
                <a:solidFill>
                  <a:srgbClr val="2A3D45"/>
                </a:solidFill>
                <a:latin typeface="Hiragino Maru Gothic ProN"/>
              </a:rPr>
              <a:t>・目（見る）</a:t>
            </a:r>
          </a:p>
          <a:p>
            <a:pPr algn="l"/>
            <a:r>
              <a:rPr sz="2200" b="0">
                <a:solidFill>
                  <a:srgbClr val="2A3D45"/>
                </a:solidFill>
                <a:latin typeface="Hiragino Maru Gothic ProN"/>
              </a:rPr>
              <a:t>・手（うごかす）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303520" cy="4389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0">
                <a:solidFill>
                  <a:srgbClr val="2A3D45"/>
                </a:solidFill>
                <a:latin typeface="Hiragino Maru Gothic ProN"/>
              </a:rPr>
              <a:t>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011680"/>
            <a:ext cx="42062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6B6B"/>
                </a:solidFill>
                <a:latin typeface="Hiragino Maru Gothic ProN"/>
              </a:rPr>
              <a:t>パソコン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34640"/>
            <a:ext cx="4937760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2A3D45"/>
                </a:solidFill>
                <a:latin typeface="Hiragino Maru Gothic ProN"/>
              </a:rPr>
              <a:t>・CPU（考える）</a:t>
            </a:r>
          </a:p>
          <a:p>
            <a:pPr algn="l"/>
            <a:r>
              <a:rPr sz="2200" b="0">
                <a:solidFill>
                  <a:srgbClr val="2A3D45"/>
                </a:solidFill>
                <a:latin typeface="Hiragino Maru Gothic ProN"/>
              </a:rPr>
              <a:t>・メモリ（さぎょうする）</a:t>
            </a:r>
          </a:p>
          <a:p>
            <a:pPr algn="l"/>
            <a:r>
              <a:rPr sz="2200" b="0">
                <a:solidFill>
                  <a:srgbClr val="2A3D45"/>
                </a:solidFill>
                <a:latin typeface="Hiragino Maru Gothic ProN"/>
              </a:rPr>
              <a:t>・ストレージ（おぼえておく）</a:t>
            </a:r>
          </a:p>
          <a:p>
            <a:pPr algn="l"/>
            <a:r>
              <a:rPr sz="2200" b="0">
                <a:solidFill>
                  <a:srgbClr val="2A3D45"/>
                </a:solidFill>
                <a:latin typeface="Hiragino Maru Gothic ProN"/>
              </a:rPr>
              <a:t>・がめん（見せる）</a:t>
            </a:r>
          </a:p>
          <a:p>
            <a:pPr algn="l"/>
            <a:r>
              <a:rPr sz="2200" b="0">
                <a:solidFill>
                  <a:srgbClr val="2A3D45"/>
                </a:solidFill>
                <a:latin typeface="Hiragino Maru Gothic ProN"/>
              </a:rPr>
              <a:t>・キーボード／マウス（うごかす）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11 / 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第1回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パソコンってなんだろう？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FF6B6B"/>
                </a:solidFill>
                <a:latin typeface="Hiragino Maru Gothic ProN"/>
              </a:rPr>
              <a:t>① CPU ＝ パソコンの「あたま」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0" b="0">
                <a:solidFill>
                  <a:srgbClr val="2A3D45"/>
                </a:solidFill>
                <a:latin typeface="Hiragino Maru Gothic ProN"/>
              </a:rP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2A3D45"/>
                </a:solidFill>
                <a:latin typeface="Hiragino Maru Gothic ProN"/>
              </a:rPr>
              <a:t>けいさんしたり、かんがえたりするぶぶん。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4ECDC4"/>
                </a:solidFill>
                <a:latin typeface="Hiragino Maru Gothic ProN"/>
              </a:rPr>
              <a:t>あたまがいいCPU がはいっているパソコンほど、はやくうごく！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12 / 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第1回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パソコンってなんだろう？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FF6B6B"/>
                </a:solidFill>
                <a:latin typeface="Hiragino Maru Gothic ProN"/>
              </a:rPr>
              <a:t>② メモリ ＝ つくえの「ひろさ」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0" b="0">
                <a:solidFill>
                  <a:srgbClr val="2A3D45"/>
                </a:solidFill>
                <a:latin typeface="Hiragino Maru Gothic ProN"/>
              </a:rPr>
              <a:t>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2A3D45"/>
                </a:solidFill>
                <a:latin typeface="Hiragino Maru Gothic ProN"/>
              </a:rPr>
              <a:t>いまやっていることを、いちじてきにひろげておくばしょ。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4ECDC4"/>
                </a:solidFill>
                <a:latin typeface="Hiragino Maru Gothic ProN"/>
              </a:rPr>
              <a:t>つくえがひろい ほど、たくさんのことを いっぺんにできる！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13 / 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第1回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パソコンってなんだろう？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FF6B6B"/>
                </a:solidFill>
                <a:latin typeface="Hiragino Maru Gothic ProN"/>
              </a:rPr>
              <a:t>③ ストレージ ＝ おおきな「本だな」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0" b="0">
                <a:solidFill>
                  <a:srgbClr val="2A3D45"/>
                </a:solidFill>
                <a:latin typeface="Hiragino Maru Gothic ProN"/>
              </a:rPr>
              <a:t>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2A3D45"/>
                </a:solidFill>
                <a:latin typeface="Hiragino Maru Gothic ProN"/>
              </a:rPr>
              <a:t>しゃしん・どうが・ファイルを しまっておく ばしょ。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4ECDC4"/>
                </a:solidFill>
                <a:latin typeface="Hiragino Maru Gothic ProN"/>
              </a:rPr>
              <a:t>電げんを切っても、なかみは消えない！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14 / 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第1回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パソコンってなんだろう？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FF6B6B"/>
                </a:solidFill>
                <a:latin typeface="Hiragino Maru Gothic ProN"/>
              </a:rPr>
              <a:t>④ がめん ＝ 「目」のかわり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0" b="0">
                <a:solidFill>
                  <a:srgbClr val="2A3D45"/>
                </a:solidFill>
                <a:latin typeface="Hiragino Maru Gothic ProN"/>
              </a:rPr>
              <a:t>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2A3D45"/>
                </a:solidFill>
                <a:latin typeface="Hiragino Maru Gothic ProN"/>
              </a:rPr>
              <a:t>CPUが かんがえたことを、わたしたちに見せてくれる。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15 / 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第1回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パソコンってなんだろう？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FF6B6B"/>
                </a:solidFill>
                <a:latin typeface="Hiragino Maru Gothic ProN"/>
              </a:rPr>
              <a:t>⑤ キーボード／マウス ＝ 「口」と「手」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0" b="0">
                <a:solidFill>
                  <a:srgbClr val="2A3D45"/>
                </a:solidFill>
                <a:latin typeface="Hiragino Maru Gothic ProN"/>
              </a:rPr>
              <a:t>⌨️🖱️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2A3D45"/>
                </a:solidFill>
                <a:latin typeface="Hiragino Maru Gothic ProN"/>
              </a:rPr>
              <a:t>わたしたちの命令を、パソコンに つたえる どうぐ。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16 / 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第1回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パソコンってなんだろう？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548640"/>
            <a:ext cx="2286000" cy="50292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2000" b="1">
                <a:solidFill>
                  <a:srgbClr val="FFFFFF"/>
                </a:solidFill>
                <a:latin typeface="Hiragino Maru Gothic ProN"/>
              </a:rPr>
              <a:t>クイズ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000" b="1">
                <a:solidFill>
                  <a:srgbClr val="2A3D45"/>
                </a:solidFill>
                <a:latin typeface="Hiragino Maru Gothic ProN"/>
              </a:rPr>
              <a:t>パソコンが「重くなる」のはなぜ？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0">
                <a:solidFill>
                  <a:srgbClr val="2A3D45"/>
                </a:solidFill>
                <a:latin typeface="Hiragino Maru Gothic ProN"/>
              </a:rPr>
              <a:t>つかっているうちに、パソコンが おそくなる…</a:t>
            </a:r>
          </a:p>
          <a:p>
            <a:pPr algn="ctr"/>
            <a:r>
              <a:rPr sz="2800" b="0">
                <a:solidFill>
                  <a:srgbClr val="2A3D45"/>
                </a:solidFill>
                <a:latin typeface="Hiragino Maru Gothic ProN"/>
              </a:rPr>
              <a:t>それは…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4572000"/>
            <a:ext cx="7589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4572000"/>
            <a:ext cx="758952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1">
                <a:solidFill>
                  <a:srgbClr val="FF6B6B"/>
                </a:solidFill>
                <a:latin typeface="Hiragino Maru Gothic ProN"/>
              </a:rPr>
              <a:t>💡 ヒント：つくえのうえに、なにがありすぎ？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17 / 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第1回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パソコンってなんだろう？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200" b="1">
                <a:solidFill>
                  <a:srgbClr val="FF6B6B"/>
                </a:solidFill>
                <a:latin typeface="Hiragino Maru Gothic ProN"/>
              </a:rPr>
              <a:t>こたえ：つくえ（メモリ）が ぱんぱん！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286000"/>
            <a:ext cx="94183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377440"/>
            <a:ext cx="9052560" cy="2103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0">
                <a:solidFill>
                  <a:srgbClr val="2A3D45"/>
                </a:solidFill>
                <a:latin typeface="Hiragino Maru Gothic ProN"/>
              </a:rPr>
              <a:t>たくさんのアプリをひらきっぱなしにしていると、</a:t>
            </a:r>
          </a:p>
          <a:p>
            <a:pPr algn="ctr"/>
            <a:r>
              <a:rPr sz="2400" b="0">
                <a:solidFill>
                  <a:srgbClr val="2A3D45"/>
                </a:solidFill>
                <a:latin typeface="Hiragino Maru Gothic ProN"/>
              </a:rPr>
              <a:t>つくえ（メモリ）が ぐちゃぐちゃになって、</a:t>
            </a:r>
          </a:p>
          <a:p>
            <a:pPr algn="ctr"/>
            <a:r>
              <a:rPr sz="2400" b="0">
                <a:solidFill>
                  <a:srgbClr val="2A3D45"/>
                </a:solidFill>
                <a:latin typeface="Hiragino Maru Gothic ProN"/>
              </a:rPr>
              <a:t>CPUが うまく さぎょうできなくなる。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5029200"/>
            <a:ext cx="7589520" cy="1188720"/>
          </a:xfrm>
          <a:prstGeom prst="round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5029200"/>
            <a:ext cx="758952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Hiragino Maru Gothic ProN"/>
              </a:rPr>
              <a:t>💡 つかわないアプリは とじよう！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18 / 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3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4ECDC4"/>
                </a:solidFill>
                <a:latin typeface="Hiragino Maru Gothic ProN"/>
              </a:rPr>
              <a:t>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1828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1">
                <a:solidFill>
                  <a:srgbClr val="FFE66D"/>
                </a:solidFill>
                <a:latin typeface="Hiragino Maru Gothic ProN"/>
              </a:rPr>
              <a:t>ファイルとフォルダ</a:t>
            </a:r>
          </a:p>
        </p:txBody>
      </p:sp>
      <p:sp>
        <p:nvSpPr>
          <p:cNvPr id="5" name="Oval 4"/>
          <p:cNvSpPr/>
          <p:nvPr/>
        </p:nvSpPr>
        <p:spPr>
          <a:xfrm>
            <a:off x="9509760" y="548640"/>
            <a:ext cx="1097280" cy="109728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5303520"/>
            <a:ext cx="914400" cy="914400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19 / 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第1回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パソコンってなんだろう？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6B6B"/>
                </a:solidFill>
                <a:latin typeface="Hiragino Maru Gothic ProN"/>
              </a:rPr>
              <a:t>ファイルってなに？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0" b="0">
                <a:solidFill>
                  <a:srgbClr val="2A3D45"/>
                </a:solidFill>
                <a:latin typeface="Hiragino Maru Gothic ProN"/>
              </a:rPr>
              <a:t>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2A3D45"/>
                </a:solidFill>
                <a:latin typeface="Hiragino Maru Gothic ProN"/>
              </a:rPr>
              <a:t>しゃしんも、どうがも、おてがみも、ぜんぶ ファイル。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4ECDC4"/>
                </a:solidFill>
                <a:latin typeface="Hiragino Maru Gothic ProN"/>
              </a:rPr>
              <a:t>パソコンの中の「いちまいの紙」みたいなもの。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20 / 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第1回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パソコンってなんだろう？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000" b="1">
                <a:solidFill>
                  <a:srgbClr val="FF6B6B"/>
                </a:solidFill>
                <a:latin typeface="Hiragino Maru Gothic ProN"/>
              </a:rPr>
              <a:t>ファイルにはいろんなしゅるい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2697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69748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0" b="0">
                <a:solidFill>
                  <a:srgbClr val="2A3D45"/>
                </a:solidFill>
                <a:latin typeface="Hiragino Maru Gothic ProN"/>
              </a:rPr>
              <a:t>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40"/>
            <a:ext cx="26974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2A3D45"/>
                </a:solidFill>
                <a:latin typeface="Hiragino Maru Gothic ProN"/>
              </a:rPr>
              <a:t>しゃしん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80560"/>
            <a:ext cx="2697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6C757D"/>
                </a:solidFill>
                <a:latin typeface="Hiragino Maru Gothic ProN"/>
              </a:rPr>
              <a:t>.jpg / .png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103120"/>
            <a:ext cx="2697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2377440"/>
            <a:ext cx="269748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0" b="0">
                <a:solidFill>
                  <a:srgbClr val="2A3D45"/>
                </a:solidFill>
                <a:latin typeface="Hiragino Maru Gothic ProN"/>
              </a:rPr>
              <a:t>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3749040"/>
            <a:ext cx="26974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2A3D45"/>
                </a:solidFill>
                <a:latin typeface="Hiragino Maru Gothic ProN"/>
              </a:rPr>
              <a:t>どうが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4480560"/>
            <a:ext cx="2697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6C757D"/>
                </a:solidFill>
                <a:latin typeface="Hiragino Maru Gothic ProN"/>
              </a:rPr>
              <a:t>.mp4 / .mov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2697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77440"/>
            <a:ext cx="269748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0" b="0">
                <a:solidFill>
                  <a:srgbClr val="2A3D45"/>
                </a:solidFill>
                <a:latin typeface="Hiragino Maru Gothic ProN"/>
              </a:rP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749040"/>
            <a:ext cx="26974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2A3D45"/>
                </a:solidFill>
                <a:latin typeface="Hiragino Maru Gothic ProN"/>
              </a:rPr>
              <a:t>もじ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480560"/>
            <a:ext cx="2697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6C757D"/>
                </a:solidFill>
                <a:latin typeface="Hiragino Maru Gothic ProN"/>
              </a:rPr>
              <a:t>.txt / .docx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2103120"/>
            <a:ext cx="2697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2377440"/>
            <a:ext cx="269748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0" b="0">
                <a:solidFill>
                  <a:srgbClr val="2A3D45"/>
                </a:solidFill>
                <a:latin typeface="Hiragino Maru Gothic ProN"/>
              </a:rPr>
              <a:t>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749040"/>
            <a:ext cx="26974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2A3D45"/>
                </a:solidFill>
                <a:latin typeface="Hiragino Maru Gothic ProN"/>
              </a:rPr>
              <a:t>おんがく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4480560"/>
            <a:ext cx="2697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6C757D"/>
                </a:solidFill>
                <a:latin typeface="Hiragino Maru Gothic ProN"/>
              </a:rPr>
              <a:t>.mp3 / .wav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0">
                <a:solidFill>
                  <a:srgbClr val="2A3D45"/>
                </a:solidFill>
                <a:latin typeface="Hiragino Maru Gothic ProN"/>
              </a:rPr>
              <a:t>ファイルのうしろの「.〇〇〇」が しゅるいをあらわすよ。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21 / 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第1回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パソコンってなんだろう？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6B6B"/>
                </a:solidFill>
                <a:latin typeface="Hiragino Maru Gothic ProN"/>
              </a:rPr>
              <a:t>フォルダってなに？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0" b="0">
                <a:solidFill>
                  <a:srgbClr val="2A3D45"/>
                </a:solidFill>
                <a:latin typeface="Hiragino Maru Gothic ProN"/>
              </a:rPr>
              <a:t>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2A3D45"/>
                </a:solidFill>
                <a:latin typeface="Hiragino Maru Gothic ProN"/>
              </a:rPr>
              <a:t>ファイルを しまっておく「はこ」。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22 / 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第1回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パソコンってなんだろう？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000" b="1">
                <a:solidFill>
                  <a:srgbClr val="FF6B6B"/>
                </a:solidFill>
                <a:latin typeface="Hiragino Maru Gothic ProN"/>
              </a:rPr>
              <a:t>フォルダの中に、フォルダ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828800"/>
            <a:ext cx="75895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2011680"/>
            <a:ext cx="7040880" cy="3657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2A3D45"/>
                </a:solidFill>
                <a:latin typeface="Consolas"/>
              </a:rPr>
              <a:t>📁 がっこう</a:t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Consolas"/>
              </a:rPr>
              <a:t>   ├─ 📁 こくご</a:t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Consolas"/>
              </a:rPr>
              <a:t>   │    ├─ 📄 さくぶん.docx</a:t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Consolas"/>
              </a:rPr>
              <a:t>   │    └─ 📄 ことばあつめ.txt</a:t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Consolas"/>
              </a:rPr>
              <a:t>   ├─ 📁 さんすう</a:t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Consolas"/>
              </a:rPr>
              <a:t>   │    └─ 📄 けいさんドリル.docx</a:t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Consolas"/>
              </a:rPr>
              <a:t>   └─ 📁 ずこう</a:t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Consolas"/>
              </a:rPr>
              <a:t>        └─ 📷 さくひん.jpg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4ECDC4"/>
                </a:solidFill>
                <a:latin typeface="Hiragino Maru Gothic ProN"/>
              </a:rPr>
              <a:t>「箱の中に箱」がいくつもはいっていてもOK！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23 / 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第1回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パソコンってなんだろう？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000" b="1">
                <a:solidFill>
                  <a:srgbClr val="FF6B6B"/>
                </a:solidFill>
                <a:latin typeface="Hiragino Maru Gothic ProN"/>
              </a:rPr>
              <a:t>なんで フォルダで わけるの？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3949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50292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6B6B"/>
                </a:solidFill>
                <a:latin typeface="Hiragino Maru Gothic ProN"/>
              </a:rPr>
              <a:t>❌ ぐちゃぐちゃ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50292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2A3D45"/>
                </a:solidFill>
                <a:latin typeface="Hiragino Maru Gothic ProN"/>
              </a:rPr>
              <a:t>ぜんぶ デスクトップにポイ…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50292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2A3D45"/>
                </a:solidFill>
                <a:latin typeface="Hiragino Maru Gothic ProN"/>
              </a:rPr>
              <a:t>👉 どこにあるか</a:t>
            </a:r>
          </a:p>
          <a:p>
            <a:pPr algn="l"/>
            <a:r>
              <a:rPr sz="2400" b="1">
                <a:solidFill>
                  <a:srgbClr val="2A3D45"/>
                </a:solidFill>
                <a:latin typeface="Hiragino Maru Gothic ProN"/>
              </a:rPr>
              <a:t>   わからん！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03120"/>
            <a:ext cx="53949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0292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4ECDC4"/>
                </a:solidFill>
                <a:latin typeface="Hiragino Maru Gothic ProN"/>
              </a:rPr>
              <a:t>⭕ きれい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08960"/>
            <a:ext cx="50292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2A3D45"/>
                </a:solidFill>
                <a:latin typeface="Hiragino Maru Gothic ProN"/>
              </a:rPr>
              <a:t>きまったフォルダにいれる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0292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2A3D45"/>
                </a:solidFill>
                <a:latin typeface="Hiragino Maru Gothic ProN"/>
              </a:rPr>
              <a:t>👉 すぐ</a:t>
            </a:r>
          </a:p>
          <a:p>
            <a:pPr algn="l"/>
            <a:r>
              <a:rPr sz="2400" b="1">
                <a:solidFill>
                  <a:srgbClr val="2A3D45"/>
                </a:solidFill>
                <a:latin typeface="Hiragino Maru Gothic ProN"/>
              </a:rPr>
              <a:t>   みつかる！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24 / 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3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4ECDC4"/>
                </a:solidFill>
                <a:latin typeface="Hiragino Maru Gothic ProN"/>
              </a:rPr>
              <a:t>4. ハンズオン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1828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1">
                <a:solidFill>
                  <a:srgbClr val="FFE66D"/>
                </a:solidFill>
                <a:latin typeface="Hiragino Maru Gothic ProN"/>
              </a:rPr>
              <a:t>やってみよう！</a:t>
            </a:r>
          </a:p>
        </p:txBody>
      </p:sp>
      <p:sp>
        <p:nvSpPr>
          <p:cNvPr id="5" name="Oval 4"/>
          <p:cNvSpPr/>
          <p:nvPr/>
        </p:nvSpPr>
        <p:spPr>
          <a:xfrm>
            <a:off x="9509760" y="548640"/>
            <a:ext cx="1097280" cy="109728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5303520"/>
            <a:ext cx="914400" cy="914400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25 / 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第1回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パソコンってなんだろう？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200" b="1">
                <a:solidFill>
                  <a:srgbClr val="4ECDC4"/>
                </a:solidFill>
                <a:latin typeface="Hiragino Maru Gothic ProN"/>
              </a:rPr>
              <a:t>やることリスト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8813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01368"/>
            <a:ext cx="1463040" cy="502920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Hiragino Maru Gothic ProN"/>
              </a:rPr>
              <a:t>ステップ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645920"/>
            <a:ext cx="88696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デスクトップに じぶんのフォルダ をつくる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48840"/>
            <a:ext cx="8869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6C757D"/>
                </a:solidFill>
                <a:latin typeface="Hiragino Maru Gothic ProN"/>
              </a:rPr>
              <a:t>名前は「○○のれんしゅう」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88920"/>
            <a:ext cx="108813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3035808"/>
            <a:ext cx="1463040" cy="502920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Hiragino Maru Gothic ProN"/>
              </a:rPr>
              <a:t>ステップ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880360"/>
            <a:ext cx="88696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そのなかに 3つのフォルダ をつくる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383280"/>
            <a:ext cx="8869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6C757D"/>
                </a:solidFill>
                <a:latin typeface="Hiragino Maru Gothic ProN"/>
              </a:rPr>
              <a:t>「しゃしん」「もじ」「おんがく」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23360"/>
            <a:ext cx="108813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4270248"/>
            <a:ext cx="1463040" cy="502920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Hiragino Maru Gothic ProN"/>
              </a:rPr>
              <a:t>ステップ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114800"/>
            <a:ext cx="88696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もじファイルをつくって、「もじ」フォルダ に入れる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57800"/>
            <a:ext cx="108813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5504688"/>
            <a:ext cx="1463040" cy="502920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Hiragino Maru Gothic ProN"/>
              </a:rPr>
              <a:t>ステップ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5349240"/>
            <a:ext cx="88696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ファイルの なまえをかえる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26 / 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第1回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パソコンってなんだろう？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4ECDC4"/>
                </a:solidFill>
                <a:latin typeface="Hiragino Maru Gothic ProN"/>
              </a:rPr>
              <a:t>ステップ 1️⃣ じぶんのフォルダをつくる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39496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2880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Hiragino Maru Gothic ProN"/>
              </a:rPr>
              <a:t>Windows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4937760" cy="37490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1. デスクトップで</a:t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     みぎクリック</a:t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/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2. 「新規作成」</a:t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     →「フォルダー」</a:t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/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3. 名前をいれて Enter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9496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182880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Hiragino Maru Gothic ProN"/>
              </a:rPr>
              <a:t>Mac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68880"/>
            <a:ext cx="4937760" cy="37490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1. デスクトップで</a:t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     みぎクリック</a:t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     （または control＋クリック）</a:t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/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2. 「新規フォルダ」</a:t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/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3. 名前をいれて return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27 / 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第1回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パソコンってなんだろう？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4ECDC4"/>
                </a:solidFill>
                <a:latin typeface="Hiragino Maru Gothic ProN"/>
              </a:rPr>
              <a:t>ステップ 2️⃣ なかに3つフォルダをつくる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3327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737360"/>
            <a:ext cx="978408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>
                <a:solidFill>
                  <a:srgbClr val="2A3D45"/>
                </a:solidFill>
                <a:latin typeface="Hiragino Maru Gothic ProN"/>
              </a:rPr>
              <a:t>つくったフォルダを ダブルクリック であける</a:t>
            </a:r>
          </a:p>
          <a:p>
            <a:pPr algn="l"/>
            <a:r>
              <a:rPr sz="2200" b="0">
                <a:solidFill>
                  <a:srgbClr val="2A3D45"/>
                </a:solidFill>
                <a:latin typeface="Hiragino Maru Gothic ProN"/>
              </a:rPr>
              <a:t>→ そのなかで、おなじやりかたで…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383280"/>
            <a:ext cx="3291840" cy="2743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3291840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0" b="0">
                <a:solidFill>
                  <a:srgbClr val="2A3D45"/>
                </a:solidFill>
                <a:latin typeface="Hiragino Maru Gothic ProN"/>
              </a:rPr>
              <a:t>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A3D45"/>
                </a:solidFill>
                <a:latin typeface="Hiragino Maru Gothic ProN"/>
              </a:rPr>
              <a:t>しゃしん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383280"/>
            <a:ext cx="3291840" cy="2743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3657600"/>
            <a:ext cx="3291840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0" b="0">
                <a:solidFill>
                  <a:srgbClr val="2A3D45"/>
                </a:solidFill>
                <a:latin typeface="Hiragino Maru Gothic ProN"/>
              </a:rPr>
              <a:t>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521208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A3D45"/>
                </a:solidFill>
                <a:latin typeface="Hiragino Maru Gothic ProN"/>
              </a:rPr>
              <a:t>もじ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383280"/>
            <a:ext cx="3291840" cy="2743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3657600"/>
            <a:ext cx="3291840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0" b="0">
                <a:solidFill>
                  <a:srgbClr val="2A3D45"/>
                </a:solidFill>
                <a:latin typeface="Hiragino Maru Gothic ProN"/>
              </a:rPr>
              <a:t>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521208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A3D45"/>
                </a:solidFill>
                <a:latin typeface="Hiragino Maru Gothic ProN"/>
              </a:rPr>
              <a:t>おんがく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28 / 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第1回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パソコンってなんだろう？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4ECDC4"/>
                </a:solidFill>
                <a:latin typeface="Hiragino Maru Gothic ProN"/>
              </a:rPr>
              <a:t>ステップ 3️⃣ もじファイルをつくる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39496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2880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Hiragino Maru Gothic ProN"/>
              </a:rPr>
              <a:t>Windows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4937760" cy="37490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2A3D45"/>
                </a:solidFill>
                <a:latin typeface="Hiragino Maru Gothic ProN"/>
              </a:rPr>
              <a:t>1. みぎクリック</a:t>
            </a:r>
          </a:p>
          <a:p>
            <a:pPr algn="l"/>
            <a:r>
              <a:rPr sz="1800" b="0">
                <a:solidFill>
                  <a:srgbClr val="2A3D45"/>
                </a:solidFill>
                <a:latin typeface="Hiragino Maru Gothic ProN"/>
              </a:rPr>
              <a:t>     →「新規作成」</a:t>
            </a:r>
          </a:p>
          <a:p>
            <a:pPr algn="l"/>
            <a:r>
              <a:rPr sz="1800" b="0">
                <a:solidFill>
                  <a:srgbClr val="2A3D45"/>
                </a:solidFill>
                <a:latin typeface="Hiragino Maru Gothic ProN"/>
              </a:rPr>
              <a:t>     →「テキスト ドキュメント」</a:t>
            </a:r>
          </a:p>
          <a:p>
            <a:pPr algn="l"/>
            <a:r>
              <a:rPr sz="1800" b="0">
                <a:solidFill>
                  <a:srgbClr val="2A3D45"/>
                </a:solidFill>
                <a:latin typeface="Hiragino Maru Gothic ProN"/>
              </a:rPr>
              <a:t/>
            </a:r>
          </a:p>
          <a:p>
            <a:pPr algn="l"/>
            <a:r>
              <a:rPr sz="1800" b="0">
                <a:solidFill>
                  <a:srgbClr val="2A3D45"/>
                </a:solidFill>
                <a:latin typeface="Hiragino Maru Gothic ProN"/>
              </a:rPr>
              <a:t>2. ひらいて、</a:t>
            </a:r>
          </a:p>
          <a:p>
            <a:pPr algn="l"/>
            <a:r>
              <a:rPr sz="1800" b="0">
                <a:solidFill>
                  <a:srgbClr val="2A3D45"/>
                </a:solidFill>
                <a:latin typeface="Hiragino Maru Gothic ProN"/>
              </a:rPr>
              <a:t>     なにか かいてみよう</a:t>
            </a:r>
          </a:p>
          <a:p>
            <a:pPr algn="l"/>
            <a:r>
              <a:rPr sz="1800" b="0">
                <a:solidFill>
                  <a:srgbClr val="2A3D45"/>
                </a:solidFill>
                <a:latin typeface="Hiragino Maru Gothic ProN"/>
              </a:rPr>
              <a:t/>
            </a:r>
          </a:p>
          <a:p>
            <a:pPr algn="l"/>
            <a:r>
              <a:rPr sz="1800" b="0">
                <a:solidFill>
                  <a:srgbClr val="2A3D45"/>
                </a:solidFill>
                <a:latin typeface="Hiragino Maru Gothic ProN"/>
              </a:rPr>
              <a:t>3. 「ファイル」→「保存」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9496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182880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Hiragino Maru Gothic ProN"/>
              </a:rPr>
              <a:t>Mac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68880"/>
            <a:ext cx="4937760" cy="37490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2A3D45"/>
                </a:solidFill>
                <a:latin typeface="Hiragino Maru Gothic ProN"/>
              </a:rPr>
              <a:t>1. メモ または</a:t>
            </a:r>
          </a:p>
          <a:p>
            <a:pPr algn="l"/>
            <a:r>
              <a:rPr sz="1800" b="0">
                <a:solidFill>
                  <a:srgbClr val="2A3D45"/>
                </a:solidFill>
                <a:latin typeface="Hiragino Maru Gothic ProN"/>
              </a:rPr>
              <a:t>     テキストエディット をひらく</a:t>
            </a:r>
          </a:p>
          <a:p>
            <a:pPr algn="l"/>
            <a:r>
              <a:rPr sz="1800" b="0">
                <a:solidFill>
                  <a:srgbClr val="2A3D45"/>
                </a:solidFill>
                <a:latin typeface="Hiragino Maru Gothic ProN"/>
              </a:rPr>
              <a:t/>
            </a:r>
          </a:p>
          <a:p>
            <a:pPr algn="l"/>
            <a:r>
              <a:rPr sz="1800" b="0">
                <a:solidFill>
                  <a:srgbClr val="2A3D45"/>
                </a:solidFill>
                <a:latin typeface="Hiragino Maru Gothic ProN"/>
              </a:rPr>
              <a:t>2. なにか かいてみよう</a:t>
            </a:r>
          </a:p>
          <a:p>
            <a:pPr algn="l"/>
            <a:r>
              <a:rPr sz="1800" b="0">
                <a:solidFill>
                  <a:srgbClr val="2A3D45"/>
                </a:solidFill>
                <a:latin typeface="Hiragino Maru Gothic ProN"/>
              </a:rPr>
              <a:t/>
            </a:r>
          </a:p>
          <a:p>
            <a:pPr algn="l"/>
            <a:r>
              <a:rPr sz="1800" b="0">
                <a:solidFill>
                  <a:srgbClr val="2A3D45"/>
                </a:solidFill>
                <a:latin typeface="Hiragino Maru Gothic ProN"/>
              </a:rPr>
              <a:t>3. 「ファイル」→「保存」</a:t>
            </a:r>
          </a:p>
          <a:p>
            <a:pPr algn="l"/>
            <a:r>
              <a:rPr sz="1800" b="0">
                <a:solidFill>
                  <a:srgbClr val="2A3D45"/>
                </a:solidFill>
                <a:latin typeface="Hiragino Maru Gothic ProN"/>
              </a:rPr>
              <a:t>     → 「もじ」フォルダをえらぶ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29 / 35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第1回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パソコンってなんだろう？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4ECDC4"/>
                </a:solidFill>
                <a:latin typeface="Hiragino Maru Gothic ProN"/>
              </a:rPr>
              <a:t>ステップ 4️⃣ なまえをかえてみよう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332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737360"/>
            <a:ext cx="9784080" cy="1645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>
                <a:solidFill>
                  <a:srgbClr val="2A3D45"/>
                </a:solidFill>
                <a:latin typeface="Hiragino Maru Gothic ProN"/>
              </a:rPr>
              <a:t>ファイルを 1かいだけクリック → ちょっと待って もういちどクリック</a:t>
            </a:r>
          </a:p>
          <a:p>
            <a:pPr algn="l"/>
            <a:r>
              <a:rPr sz="2200" b="0">
                <a:solidFill>
                  <a:srgbClr val="2A3D45"/>
                </a:solidFill>
                <a:latin typeface="Hiragino Maru Gothic ProN"/>
              </a:rPr>
              <a:t/>
            </a:r>
          </a:p>
          <a:p>
            <a:pPr algn="l"/>
            <a:r>
              <a:rPr sz="2200" b="0">
                <a:solidFill>
                  <a:srgbClr val="2A3D45"/>
                </a:solidFill>
                <a:latin typeface="Hiragino Maru Gothic ProN"/>
              </a:rPr>
              <a:t>または みぎクリック → 「名前の変更」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49039"/>
            <a:ext cx="10332720" cy="2468880"/>
          </a:xfrm>
          <a:prstGeom prst="roundRect">
            <a:avLst/>
          </a:prstGeom>
          <a:solidFill>
            <a:srgbClr val="FFE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88620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0">
                <a:solidFill>
                  <a:srgbClr val="2A3D45"/>
                </a:solidFill>
                <a:latin typeface="Hiragino Maru Gothic ProN"/>
              </a:rPr>
              <a:t>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93192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2A3D45"/>
                </a:solidFill>
                <a:latin typeface="Hiragino Maru Gothic ProN"/>
              </a:rPr>
              <a:t>なまえのつけかたコツ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0"/>
            <a:ext cx="978408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2A3D45"/>
                </a:solidFill>
                <a:latin typeface="Hiragino Maru Gothic ProN"/>
              </a:rPr>
              <a:t>・なにのファイルか じぶんがあとで見てもわかる名前 に</a:t>
            </a:r>
          </a:p>
          <a:p>
            <a:pPr algn="l"/>
            <a:r>
              <a:rPr sz="1800" b="0">
                <a:solidFill>
                  <a:srgbClr val="2A3D45"/>
                </a:solidFill>
                <a:latin typeface="Hiragino Maru Gothic ProN"/>
              </a:rPr>
              <a:t>・スペースのかわりに「_」や「-」をつかう</a:t>
            </a:r>
          </a:p>
          <a:p>
            <a:pPr algn="l"/>
            <a:r>
              <a:rPr sz="1800" b="0">
                <a:solidFill>
                  <a:srgbClr val="2A3D45"/>
                </a:solidFill>
                <a:latin typeface="Hiragino Maru Gothic ProN"/>
              </a:rPr>
              <a:t>・日本語OK！ でも英語のほうがトラブルがすくない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30 / 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第1回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パソコンってなんだろう？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000" b="1">
                <a:solidFill>
                  <a:srgbClr val="4ECDC4"/>
                </a:solidFill>
                <a:latin typeface="Hiragino Maru Gothic ProN"/>
              </a:rPr>
              <a:t>できたひと、こまったひと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949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9377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4ECDC4"/>
                </a:solidFill>
                <a:latin typeface="Hiragino Maru Gothic ProN"/>
              </a:rPr>
              <a:t>🎉 できたひと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4937760" cy="3017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・もう1つフォルダを</a:t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  つくってみよう</a:t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/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・ファイルを</a:t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  ドラッグ＆ドロップで</a:t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  べつのフォルダに</a:t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  うごかしてみよう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949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9377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6B6B"/>
                </a:solidFill>
                <a:latin typeface="Hiragino Maru Gothic ProN"/>
              </a:rPr>
              <a:t>🙋 こまったひと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834640"/>
            <a:ext cx="4937760" cy="3017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・まわりの人にきいてみよう</a:t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/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・先生をよぼう</a:t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/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・できなくても</a:t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  ダイジョウブ！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31 / 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3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1828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1">
                <a:solidFill>
                  <a:srgbClr val="FFE66D"/>
                </a:solidFill>
                <a:latin typeface="Hiragino Maru Gothic ProN"/>
              </a:rPr>
              <a:t>まとめ</a:t>
            </a:r>
          </a:p>
        </p:txBody>
      </p:sp>
      <p:sp>
        <p:nvSpPr>
          <p:cNvPr id="4" name="Oval 3"/>
          <p:cNvSpPr/>
          <p:nvPr/>
        </p:nvSpPr>
        <p:spPr>
          <a:xfrm>
            <a:off x="9509760" y="548640"/>
            <a:ext cx="1097280" cy="109728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5303520"/>
            <a:ext cx="914400" cy="914400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32 / 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第1回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パソコンってなんだろう？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200" b="1">
                <a:solidFill>
                  <a:srgbClr val="FF6B6B"/>
                </a:solidFill>
                <a:latin typeface="Hiragino Maru Gothic ProN"/>
              </a:rPr>
              <a:t>きょう おぼえたこと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8813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874520"/>
            <a:ext cx="822960" cy="82296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Hiragino Maru Gothic Pro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737360"/>
            <a:ext cx="9326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パソコンは コンピューター のなかま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359152"/>
            <a:ext cx="9326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6C757D"/>
                </a:solidFill>
                <a:latin typeface="Hiragino Maru Gothic ProN"/>
              </a:rPr>
              <a:t>スマホもタブレットも、なかま！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54680"/>
            <a:ext cx="108813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3383280"/>
            <a:ext cx="822960" cy="82296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8328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Hiragino Maru Gothic ProN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246120"/>
            <a:ext cx="9326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パソコンの中には 5つのぶぶん がある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867912"/>
            <a:ext cx="9326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6C757D"/>
                </a:solidFill>
                <a:latin typeface="Hiragino Maru Gothic ProN"/>
              </a:rPr>
              <a:t>CPU・メモリ・ストレージ・がめん・キーボード／マウス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63440"/>
            <a:ext cx="108813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4892040"/>
            <a:ext cx="822960" cy="82296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89204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Hiragino Maru Gothic ProN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754880"/>
            <a:ext cx="9326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ファイルとフォルダで きれいに整理 できる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5376672"/>
            <a:ext cx="9326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6C757D"/>
                </a:solidFill>
                <a:latin typeface="Hiragino Maru Gothic ProN"/>
              </a:rPr>
              <a:t>「箱の中に紙」「箱の中に箱」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33 /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第1回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パソコンってなんだろう？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FF6B6B"/>
                </a:solidFill>
                <a:latin typeface="Hiragino Maru Gothic ProN"/>
              </a:rPr>
              <a:t>こんどは…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0" b="0">
                <a:solidFill>
                  <a:srgbClr val="2A3D45"/>
                </a:solidFill>
                <a:latin typeface="Hiragino Maru Gothic ProN"/>
              </a:rPr>
              <a:t>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6B6B"/>
                </a:solidFill>
                <a:latin typeface="Hiragino Maru Gothic ProN"/>
              </a:rPr>
              <a:t>インターネットってなんだろう？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1124712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0">
                <a:solidFill>
                  <a:srgbClr val="2A3D45"/>
                </a:solidFill>
                <a:latin typeface="Hiragino Maru Gothic ProN"/>
              </a:rPr>
              <a:t>パソコン同士がどうやってつながっているか、</a:t>
            </a:r>
          </a:p>
          <a:p>
            <a:pPr algn="ctr"/>
            <a:r>
              <a:rPr sz="2000" b="0">
                <a:solidFill>
                  <a:srgbClr val="2A3D45"/>
                </a:solidFill>
                <a:latin typeface="Hiragino Maru Gothic ProN"/>
              </a:rPr>
              <a:t>Webサイトはどこから来ているか、たんけんしてみよう！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34 / 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72600" y="228600"/>
            <a:ext cx="2286000" cy="2286000"/>
          </a:xfrm>
          <a:prstGeom prst="ellipse">
            <a:avLst/>
          </a:prstGeom>
          <a:solidFill>
            <a:srgbClr val="FFE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" y="4663440"/>
            <a:ext cx="1645920" cy="1645920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47120" cy="1828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Hiragino Maru Gothic ProN"/>
              </a:rPr>
              <a:t>きょうもおつかれさま！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Hiragino Maru Gothic ProN"/>
              </a:rPr>
              <a:t>また こんど！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