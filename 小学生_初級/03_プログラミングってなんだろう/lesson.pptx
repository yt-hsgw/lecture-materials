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-45720"/>
            <a:ext cx="2286000" cy="2286000"/>
          </a:xfrm>
          <a:prstGeom prst="ellipse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120640"/>
            <a:ext cx="1645920" cy="164592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Maru Gothic ProN"/>
              </a:rPr>
              <a:t>第3回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2926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Hiragino Maru Gothic ProN"/>
              </a:rPr>
              <a:t>プログラミングって</a:t>
            </a:r>
          </a:p>
          <a:p>
            <a:pPr algn="ctr"/>
            <a:r>
              <a:rPr sz="8000" b="1">
                <a:solidFill>
                  <a:srgbClr val="FFFFFF"/>
                </a:solidFill>
                <a:latin typeface="Hiragino Maru Gothic ProN"/>
              </a:rPr>
              <a:t>なんだろう？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iragino Maru Gothic ProN"/>
              </a:rPr>
              <a:t>コンピューターに命令する ってどういうこと？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Hiragino Maru Gothic ProN"/>
              </a:rPr>
              <a:t>📝  🤖  💻  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B347"/>
                </a:solidFill>
                <a:latin typeface="Hiragino Maru Gothic ProN"/>
              </a:rPr>
              <a:t>まえの回の 復習クイズ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206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146304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22860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6A4C93"/>
                </a:solidFill>
                <a:latin typeface="Hiragino Maru Gothic ProN"/>
              </a:rPr>
              <a:t>＝ 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4206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146304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011680"/>
            <a:ext cx="22860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6A4C93"/>
                </a:solidFill>
                <a:latin typeface="Hiragino Maru Gothic ProN"/>
              </a:rPr>
              <a:t>＝ 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023360"/>
            <a:ext cx="4206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206240"/>
            <a:ext cx="146304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06240"/>
            <a:ext cx="22860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6A4C93"/>
                </a:solidFill>
                <a:latin typeface="Hiragino Maru Gothic ProN"/>
              </a:rPr>
              <a:t>＝ 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023360"/>
            <a:ext cx="4206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146304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206240"/>
            <a:ext cx="22860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6A4C93"/>
                </a:solidFill>
                <a:latin typeface="Hiragino Maru Gothic ProN"/>
              </a:rPr>
              <a:t>＝ 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B347"/>
                </a:solidFill>
                <a:latin typeface="Hiragino Maru Gothic ProN"/>
              </a:rPr>
              <a:t>こたえ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031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B347"/>
                </a:solidFill>
                <a:latin typeface="Hiragino Maru Gothic ProN"/>
              </a:rPr>
              <a:t>インターネット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74320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A3D45"/>
                </a:solidFill>
                <a:latin typeface="Hiragino Maru Gothic ProN"/>
              </a:rPr>
              <a:t>せかい中をつなぐ道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031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B347"/>
                </a:solidFill>
                <a:latin typeface="Hiragino Maru Gothic ProN"/>
              </a:rPr>
              <a:t>サーバー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4320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A3D45"/>
                </a:solidFill>
                <a:latin typeface="Hiragino Maru Gothic ProN"/>
              </a:rPr>
              <a:t>Webサイトのある場所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2976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B347"/>
                </a:solidFill>
                <a:latin typeface="Hiragino Maru Gothic ProN"/>
              </a:rPr>
              <a:t>リクエスト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93776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A3D45"/>
                </a:solidFill>
                <a:latin typeface="Hiragino Maru Gothic ProN"/>
              </a:rPr>
              <a:t>ブラウザのおねがい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394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2976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B347"/>
                </a:solidFill>
                <a:latin typeface="Hiragino Maru Gothic ProN"/>
              </a:rPr>
              <a:t>レスポンス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3776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A3D45"/>
                </a:solidFill>
                <a:latin typeface="Hiragino Maru Gothic ProN"/>
              </a:rPr>
              <a:t>サーバーのおこたえ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B347"/>
                </a:solidFill>
                <a:latin typeface="Hiragino Maru Gothic ProN"/>
              </a:rPr>
              <a:t>きょうのゴール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37360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プログラミング がなにをすることか わかる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39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80359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34639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じゅんばん／くりかえし／もしも のしくみが わかる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977640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31920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プログラミング言語 にいろんな種類があると わかる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074920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029200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かみカードで じぶんでプログラム をくんでみる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B347"/>
                </a:solidFill>
                <a:latin typeface="Hiragino Maru Gothic ProN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プログラミングってなに？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こんなことばを 聞いたことある？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8813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2A3D45"/>
                </a:solidFill>
                <a:latin typeface="Hiragino Maru Gothic ProN"/>
              </a:rPr>
              <a:t>「ロボットを プログラミング する」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2A3D45"/>
                </a:solidFill>
                <a:latin typeface="Hiragino Maru Gothic ProN"/>
              </a:rPr>
              <a:t>「ゲームを プログラミング で作る」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6A4C93"/>
                </a:solidFill>
                <a:latin typeface="Hiragino Maru Gothic ProN"/>
              </a:rPr>
              <a:t>…でも、ぐたいてきには 何をすること？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こたえ：コンピューターに 命令 すること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0" b="0">
                <a:solidFill>
                  <a:srgbClr val="2A3D45"/>
                </a:solidFill>
                <a:latin typeface="Hiragino Maru Gothic ProN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286000"/>
            <a:ext cx="228600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6A4C93"/>
                </a:solidFill>
                <a:latin typeface="Hiragino Maru Gothic ProN"/>
              </a:rPr>
              <a:t>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0" b="0">
                <a:solidFill>
                  <a:srgbClr val="2A3D45"/>
                </a:solidFill>
                <a:latin typeface="Hiragino Maru Gothic ProN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「これをして」「つぎはこれ」と、こまかくつたえていくこと。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コンピューターはとても「ばか正直」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0">
                <a:solidFill>
                  <a:srgbClr val="2A3D45"/>
                </a:solidFill>
                <a:latin typeface="Hiragino Maru Gothic ProN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4023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6A4C93"/>
                </a:solidFill>
                <a:latin typeface="Hiragino Maru Gothic ProN"/>
              </a:rPr>
              <a:t>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493776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「冷蔵庫から牛乳とって」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👉 ふつうは うまくやってくれる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0">
                <a:solidFill>
                  <a:srgbClr val="2A3D45"/>
                </a:solidFill>
                <a:latin typeface="Hiragino Maru Gothic ProN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4023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B347"/>
                </a:solidFill>
                <a:latin typeface="Hiragino Maru Gothic ProN"/>
              </a:rPr>
              <a:t>コンピューター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34640"/>
            <a:ext cx="4937760" cy="3291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「歩く」「冷蔵庫の前まで」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「右手をのばす」「ドアをひらく」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「牛乳をつかむ」「ドアをしめる」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👉 ぜんぶ言わないとうごかない！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B347"/>
                </a:solidFill>
                <a:latin typeface="Hiragino Maru Gothic ProN"/>
              </a:rPr>
              <a:t>命令の書き方が だいじ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011680"/>
            <a:ext cx="8503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850392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2A3D45"/>
                </a:solidFill>
                <a:latin typeface="Hiragino Maru Gothic ProN"/>
              </a:rPr>
              <a:t>📝 命令を 書く 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6A4C93"/>
                </a:solidFill>
                <a:latin typeface="Hiragino Maru Gothic ProN"/>
              </a:rPr>
              <a:t>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572000"/>
            <a:ext cx="8503920" cy="146304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572000"/>
            <a:ext cx="850392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Hiragino Maru Gothic ProN"/>
              </a:rPr>
              <a:t>プログラミング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Hiragino Maru Gothic ProN"/>
              </a:rPr>
              <a:t>命令を集めたものを プログラム というよ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B347"/>
                </a:solidFill>
                <a:latin typeface="Hiragino Maru Gothic ProN"/>
              </a:rPr>
              <a:t>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3つのキホン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どんなプログラムにも、3つのきほん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B347"/>
                </a:solidFill>
                <a:latin typeface="Hiragino Maru Gothic ProN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A4C93"/>
                </a:solidFill>
                <a:latin typeface="Hiragino Maru Gothic ProN"/>
              </a:rPr>
              <a:t>じゅんばん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2A3D45"/>
                </a:solidFill>
                <a:latin typeface="Hiragino Maru Gothic ProN"/>
              </a:rPr>
              <a:t>1→2→3 の順にやる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37744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B347"/>
                </a:solidFill>
                <a:latin typeface="Hiragino Maru Gothic ProN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5720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A4C93"/>
                </a:solidFill>
                <a:latin typeface="Hiragino Maru Gothic ProN"/>
              </a:rPr>
              <a:t>くりかえし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2120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2A3D45"/>
                </a:solidFill>
                <a:latin typeface="Hiragino Maru Gothic ProN"/>
              </a:rPr>
              <a:t>おなじことを 何回も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37744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B347"/>
                </a:solidFill>
                <a:latin typeface="Hiragino Maru Gothic ProN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0040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5720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A4C93"/>
                </a:solidFill>
                <a:latin typeface="Hiragino Maru Gothic ProN"/>
              </a:rPr>
              <a:t>もしも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21208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2A3D45"/>
                </a:solidFill>
                <a:latin typeface="Hiragino Maru Gothic ProN"/>
              </a:rPr>
              <a:t>じょうけんで わかれ道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B347"/>
                </a:solidFill>
                <a:latin typeface="Hiragino Maru Gothic ProN"/>
              </a:rPr>
              <a:t>① じゅんばん（順次）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れい：あさ、おうちを出るまで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24688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おきる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688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788920"/>
            <a:ext cx="640080" cy="64008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7889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468880"/>
            <a:ext cx="24688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かおをあらう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46888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9640" y="2788920"/>
            <a:ext cx="640080" cy="64008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7889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4688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ごはんをたべる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434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023360"/>
            <a:ext cx="24688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はをみがく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02336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09160" y="4343400"/>
            <a:ext cx="640080" cy="64008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3434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023360"/>
            <a:ext cx="24688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ふくをきる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02336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49640" y="4343400"/>
            <a:ext cx="640080" cy="64008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3434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023360"/>
            <a:ext cx="24688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いってきます！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Hiragino Maru Gothic ProN"/>
              </a:rPr>
              <a:t>順番が ちがう と、出かけられなくなる…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B347"/>
                </a:solidFill>
                <a:latin typeface="Hiragino Maru Gothic ProN"/>
              </a:rPr>
              <a:t>② くりかえし（反復）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「あいうえお」を 5回 うつ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394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📝 ふつう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4937760" cy="2560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Consolas"/>
              </a:rPr>
              <a:t>「あいうえお」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Consolas"/>
              </a:rPr>
              <a:t>「あいうえお」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Consolas"/>
              </a:rPr>
              <a:t>「あいうえお」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Consolas"/>
              </a:rPr>
              <a:t>「あいうえお」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Consolas"/>
              </a:rPr>
              <a:t>「あいうえお」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94960" cy="347472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Maru Gothic ProN"/>
              </a:rPr>
              <a:t>🔁 くりかえし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493776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5回くりかえす：</a:t>
            </a:r>
          </a:p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   「あいうえお」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Hiragino Maru Gothic ProN"/>
              </a:rPr>
              <a:t>おなじことは まとめてしまえる！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B347"/>
                </a:solidFill>
                <a:latin typeface="Hiragino Maru Gothic ProN"/>
              </a:rPr>
              <a:t>③ もしも（条件分岐）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れい：おかいもの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77440"/>
            <a:ext cx="8503920" cy="109728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85039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もし お金が 100円より おおい：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3566160"/>
            <a:ext cx="7223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566160"/>
            <a:ext cx="72237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🍡 おかしを買う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72000"/>
            <a:ext cx="8503920" cy="10972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85039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Maru Gothic ProN"/>
              </a:rPr>
              <a:t>そうでなければ：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0720"/>
            <a:ext cx="7223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5760720"/>
            <a:ext cx="72237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A3D45"/>
                </a:solidFill>
                <a:latin typeface="Hiragino Maru Gothic ProN"/>
              </a:rPr>
              <a:t>🚶 がまんして帰る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B347"/>
                </a:solidFill>
                <a:latin typeface="Hiragino Maru Gothic ProN"/>
              </a:rPr>
              <a:t>3つを 組み合わせると…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011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B347"/>
                </a:solidFill>
                <a:latin typeface="Hiragino Maru Gothic ProN"/>
              </a:rPr>
              <a:t>ゲームのできあがり！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4C93"/>
                </a:solidFill>
                <a:latin typeface="Hiragino Maru Gothic ProN"/>
              </a:rPr>
              <a:t>じゅんばん：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66344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タイトル → スタート → ゲーム → スコア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4C93"/>
                </a:solidFill>
                <a:latin typeface="Hiragino Maru Gothic ProN"/>
              </a:rPr>
              <a:t>くりかえし：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30352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てきが何回も出てくる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4C93"/>
                </a:solidFill>
                <a:latin typeface="Hiragino Maru Gothic ProN"/>
              </a:rPr>
              <a:t>もしも：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94360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もし たまが あたったら、てきが消える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54864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クイズ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2A3D45"/>
                </a:solidFill>
                <a:latin typeface="Hiragino Maru Gothic ProN"/>
              </a:rPr>
              <a:t>これはどれを使ってる？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2A3D45"/>
                </a:solidFill>
                <a:latin typeface="Hiragino Maru Gothic ProN"/>
              </a:rPr>
              <a:t>「テストでまちがえたら、もう一度やる」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6A4C93"/>
                </a:solidFill>
                <a:latin typeface="Hiragino Maru Gothic ProN"/>
              </a:rPr>
              <a:t>3つのキホンのうち、どれを使ってる？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B347"/>
                </a:solidFill>
                <a:latin typeface="Hiragino Maru Gothic ProN"/>
              </a:rPr>
              <a:t>こたえ：もしも + くりかえし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32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78408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もし まちがえた なら → もう一度</a:t>
            </a:r>
          </a:p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そうでなければ → つぎへ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332720" cy="137160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Maru Gothic ProN"/>
              </a:rPr>
              <a:t>これを 正解するまで くりかえし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A4C93"/>
                </a:solidFill>
                <a:latin typeface="Hiragino Maru Gothic ProN"/>
              </a:rPr>
              <a:t>💡 組み合わせて使うことが多いよ！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B347"/>
                </a:solidFill>
                <a:latin typeface="Hiragino Maru Gothic ProN"/>
              </a:rPr>
              <a:t>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プログラミング言語ってなに？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コンピューターが 分かる「ことば」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🇯🇵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日本語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🇺🇸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英語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🇨🇳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中国語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人間どうしでも「ことば」がいる。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6A4C93"/>
                </a:solidFill>
                <a:latin typeface="Hiragino Maru Gothic ProN"/>
              </a:rPr>
              <a:t>コンピューターには プログラミング言語 で命令をかくよ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B347"/>
                </a:solidFill>
                <a:latin typeface="Hiragino Maru Gothic ProN"/>
              </a:rPr>
              <a:t>いろんな言語、ぜんぶで何百も！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A4C93"/>
                </a:solidFill>
                <a:latin typeface="Hiragino Maru Gothic ProN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3464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A3D45"/>
                </a:solidFill>
                <a:latin typeface="Hiragino Maru Gothic ProN"/>
              </a:rPr>
              <a:t>AI・かいせきが とくい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19456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A4C93"/>
                </a:solidFill>
                <a:latin typeface="Hiragino Maru Gothic ProN"/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83464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A3D45"/>
                </a:solidFill>
                <a:latin typeface="Hiragino Maru Gothic ProN"/>
              </a:rPr>
              <a:t>Webサイトを動かす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A4C93"/>
                </a:solidFill>
                <a:latin typeface="Hiragino Maru Gothic ProN"/>
              </a:rPr>
              <a:t>Scratch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83464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A3D45"/>
                </a:solidFill>
                <a:latin typeface="Hiragino Maru Gothic ProN"/>
              </a:rPr>
              <a:t>こども向け・ブロック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8912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A4C93"/>
                </a:solidFill>
                <a:latin typeface="Hiragino Maru Gothic ProN"/>
              </a:rPr>
              <a:t>C / C++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2920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A3D45"/>
                </a:solidFill>
                <a:latin typeface="Hiragino Maru Gothic ProN"/>
              </a:rPr>
              <a:t>ゲーム・きかい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2336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29768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38912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A4C93"/>
                </a:solidFill>
                <a:latin typeface="Hiragino Maru Gothic ProN"/>
              </a:rPr>
              <a:t>C# (Unity)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502920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A3D45"/>
                </a:solidFill>
                <a:latin typeface="Hiragino Maru Gothic ProN"/>
              </a:rPr>
              <a:t>ゲームを作る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2336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38912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A4C93"/>
                </a:solidFill>
                <a:latin typeface="Hiragino Maru Gothic ProN"/>
              </a:rPr>
              <a:t>Swift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02920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A3D45"/>
                </a:solidFill>
                <a:latin typeface="Hiragino Maru Gothic ProN"/>
              </a:rPr>
              <a:t>iPhoneアプリを作る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B347"/>
                </a:solidFill>
                <a:latin typeface="Hiragino Maru Gothic ProN"/>
              </a:rPr>
              <a:t>言語によって とくいなことがちがう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68580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iragino Maru Gothic ProN"/>
              </a:rPr>
              <a:t>作りたいもの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83080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iragino Maru Gothic ProN"/>
              </a:rPr>
              <a:t>おすすめの言語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60320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39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59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Webサイト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37559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JavaScript / HTML /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79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799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iPhoneアプリ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14799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Swift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ゲーム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892040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C# (Unity) / C++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はじめての練習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669280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Scratch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どの言語も やることは おなじ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286000"/>
            <a:ext cx="8503920" cy="182880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85039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Hiragino Maru Gothic ProN"/>
              </a:rPr>
              <a:t>じゅんばん／くりかえし／もしも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書き方がちがうだけ。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6A4C93"/>
                </a:solidFill>
                <a:latin typeface="Hiragino Maru Gothic ProN"/>
              </a:rPr>
              <a:t>ひとつ覚えれば、ほかの言語にも うつりやすい！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「Hello」を 3回ひょうじ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657600" cy="2286000"/>
          </a:xfrm>
          <a:prstGeom prst="round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E66D"/>
                </a:solidFill>
                <a:latin typeface="Hiragino Maru Gothic ProN"/>
              </a:rPr>
              <a:t>🐍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for i in range(3):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print("Hello")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57600" cy="2286000"/>
          </a:xfrm>
          <a:prstGeom prst="round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E66D"/>
                </a:solidFill>
                <a:latin typeface="Hiragino Maru Gothic ProN"/>
              </a:rPr>
              <a:t>🟨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3832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for (let i=0; i&lt;3; i++) {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console.log("Hello");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66160" cy="2286000"/>
          </a:xfrm>
          <a:prstGeom prst="round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E66D"/>
                </a:solidFill>
                <a:latin typeface="Hiragino Maru Gothic ProN"/>
              </a:rPr>
              <a:t>🔵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[3回くりかえす]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[Hello と言う]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10332720" cy="137160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A3D45"/>
                </a:solidFill>
                <a:latin typeface="Hiragino Maru Gothic ProN"/>
              </a:rPr>
              <a:t>💡 やってることは ぜんぶおなじ：「3回くりかえして Hello と言う」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B347"/>
                </a:solidFill>
                <a:latin typeface="Hiragino Maru Gothic ProN"/>
              </a:rPr>
              <a:t>4. ハンズオン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やってみよう！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6A4C93"/>
                </a:solidFill>
                <a:latin typeface="Hiragino Maru Gothic ProN"/>
              </a:rPr>
              <a:t>カードで「ロボット」を動かそう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0" b="0">
                <a:solidFill>
                  <a:srgbClr val="2A3D45"/>
                </a:solidFill>
                <a:latin typeface="Hiragino Maru Gothic ProN"/>
              </a:rPr>
              <a:t>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206240"/>
            <a:ext cx="85039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85039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ロボットを ゴール（🏁）まで 動かす</a:t>
            </a:r>
          </a:p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カード命令 を 組み立ててみよう！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6A4C93"/>
                </a:solidFill>
                <a:latin typeface="Hiragino Maru Gothic ProN"/>
              </a:rPr>
              <a:t>命令カード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20240"/>
            <a:ext cx="201168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まえへ1ます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⬅️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20240"/>
            <a:ext cx="201168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ひだりをむく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920240"/>
            <a:ext cx="201168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みぎをむく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23359"/>
            <a:ext cx="201168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◯回くりかえす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39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59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023359"/>
            <a:ext cx="201168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もし◯◯なら〜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749039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023359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023359"/>
            <a:ext cx="201168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たからを とる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6A4C93"/>
                </a:solidFill>
                <a:latin typeface="Hiragino Maru Gothic ProN"/>
              </a:rPr>
              <a:t>課題① たからを取って ゴールへ！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645920" cy="164592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6459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2377440"/>
            <a:ext cx="1645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2377440"/>
            <a:ext cx="16459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77440"/>
            <a:ext cx="1645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16459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377440"/>
            <a:ext cx="1645920" cy="164592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16459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377440"/>
            <a:ext cx="1645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16459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2377440"/>
            <a:ext cx="1645920" cy="16459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2377440"/>
            <a:ext cx="16459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0">
                <a:solidFill>
                  <a:srgbClr val="2A3D45"/>
                </a:solidFill>
                <a:latin typeface="Hiragino Maru Gothic ProN"/>
              </a:rPr>
              <a:t>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212080"/>
            <a:ext cx="8503920" cy="118872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212080"/>
            <a:ext cx="8503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💡 ヒント：「まえへ1ます」を つかおう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6A4C93"/>
                </a:solidFill>
                <a:latin typeface="Hiragino Maru Gothic ProN"/>
              </a:rPr>
              <a:t>課題① こたえ例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463040"/>
            <a:ext cx="85039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503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⬆️ まえへ1ます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331720"/>
            <a:ext cx="85039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8503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⬆️ まえへ1ます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00400"/>
            <a:ext cx="85039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200400"/>
            <a:ext cx="8503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💎 たからを とる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069079"/>
            <a:ext cx="85039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069079"/>
            <a:ext cx="8503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⬆️ まえへ1ます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937760"/>
            <a:ext cx="85039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937760"/>
            <a:ext cx="8503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🏁 ゴール！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852160"/>
            <a:ext cx="10332720" cy="64008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Maru Gothic ProN"/>
              </a:rPr>
              <a:t>🔁 「3回くりかえす：まえへ1ます」 でもOK！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6A4C93"/>
                </a:solidFill>
                <a:latin typeface="Hiragino Maru Gothic ProN"/>
              </a:rPr>
              <a:t>課題② もう少しむずかしく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7280" cy="109728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39" y="1828800"/>
            <a:ext cx="1097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182880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828800"/>
            <a:ext cx="1097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82880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1097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82880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828800"/>
            <a:ext cx="1097280" cy="10972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82880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➡️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108960"/>
            <a:ext cx="1097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1089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108960"/>
            <a:ext cx="1097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1089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⬆️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108960"/>
            <a:ext cx="1097280" cy="109728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1089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3108960"/>
            <a:ext cx="1097280" cy="10972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31089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212080"/>
            <a:ext cx="10332720" cy="118872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A3D45"/>
                </a:solidFill>
                <a:latin typeface="Hiragino Maru Gothic ProN"/>
              </a:rPr>
              <a:t>💡 まがるとき と たから のとき、どこにカードを入れる？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6A4C93"/>
                </a:solidFill>
                <a:latin typeface="Hiragino Maru Gothic ProN"/>
              </a:rPr>
              <a:t>課題② こたえ例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371600"/>
            <a:ext cx="8503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71600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🔁 3回くりかえす：⬆️ まえへ1ます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084832"/>
            <a:ext cx="8503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084832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➡️ みぎをむく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798064"/>
            <a:ext cx="8503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798064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🔁 2回くりかえす：⬆️ まえへ1ます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511296"/>
            <a:ext cx="8503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3511296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💎 たからを とる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24528"/>
            <a:ext cx="8503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4224528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⬆️ まえへ1ます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937760"/>
            <a:ext cx="8503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937760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A3D45"/>
                </a:solidFill>
                <a:latin typeface="Hiragino Maru Gothic ProN"/>
              </a:rPr>
              <a:t>🏁 ゴール！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852160"/>
            <a:ext cx="10332720" cy="64008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Maru Gothic ProN"/>
              </a:rPr>
              <a:t>🔁 くりかえし を使うと、カードが少なくなる！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6A4C93"/>
                </a:solidFill>
                <a:latin typeface="Hiragino Maru Gothic ProN"/>
              </a:rPr>
              <a:t>自由課題（じかんがあれば）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4630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💎💎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28800"/>
            <a:ext cx="87782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たからを 2つ に増やしてみよう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881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4630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87782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まがる回数を 増やして みよう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10881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4630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389120"/>
            <a:ext cx="87782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ともだちと カードをまぜて おたがいの コースに挑戦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まとめ</a:t>
            </a:r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B347"/>
                </a:solidFill>
                <a:latin typeface="Hiragino Maru Gothic ProN"/>
              </a:rPr>
              <a:t>きょう おぼえたこと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2980" y="1714500"/>
            <a:ext cx="777240" cy="77724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" y="171450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2A3D45"/>
                </a:solidFill>
                <a:latin typeface="Hiragino Maru Gothic ProN"/>
              </a:rPr>
              <a:t>プログラミング ＝ コンピューターに命令 すること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" y="2811780"/>
            <a:ext cx="777240" cy="77724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" y="2811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4320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2A3D45"/>
                </a:solidFill>
                <a:latin typeface="Hiragino Maru Gothic ProN"/>
              </a:rPr>
              <a:t>3つのきほん：じゅんばん ／ くりかえし ／ もしも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2980" y="3909060"/>
            <a:ext cx="777240" cy="77724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" y="390906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404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2A3D45"/>
                </a:solidFill>
                <a:latin typeface="Hiragino Maru Gothic ProN"/>
              </a:rPr>
              <a:t>プログラミング言語 はいろいろある（やることはおなじ）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59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980" y="5006339"/>
            <a:ext cx="777240" cy="777240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" y="5006339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937759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2A3D45"/>
                </a:solidFill>
                <a:latin typeface="Hiragino Maru Gothic ProN"/>
              </a:rPr>
              <a:t>カードでも プログラム はくめる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プログラミングってなんだろう？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FFB347"/>
                </a:solidFill>
                <a:latin typeface="Hiragino Maru Gothic ProN"/>
              </a:rPr>
              <a:t>こんどは…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0" b="0">
                <a:solidFill>
                  <a:srgbClr val="2A3D45"/>
                </a:solidFill>
                <a:latin typeface="Hiragino Maru Gothic ProN"/>
              </a:rPr>
              <a:t>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>
                <a:solidFill>
                  <a:srgbClr val="FFB347"/>
                </a:solidFill>
                <a:latin typeface="Hiragino Maru Gothic ProN"/>
              </a:rPr>
              <a:t>Scratch をはじめよう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じっさいにパソコンで ねこを動かしてみるよ！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228600"/>
            <a:ext cx="2286000" cy="2286000"/>
          </a:xfrm>
          <a:prstGeom prst="ellipse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4663440"/>
            <a:ext cx="1645920" cy="164592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Hiragino Maru Gothic ProN"/>
              </a:rPr>
              <a:t>きょうもおつかれさま！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Hiragino Maru Gothic ProN"/>
              </a:rPr>
              <a:t>また こんど！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