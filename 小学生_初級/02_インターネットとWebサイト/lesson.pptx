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-45720"/>
            <a:ext cx="2286000" cy="2286000"/>
          </a:xfrm>
          <a:prstGeom prst="ellipse">
            <a:avLst/>
          </a:prstGeom>
          <a:solidFill>
            <a:srgbClr val="FFE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120640"/>
            <a:ext cx="1645920" cy="164592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iragino Maru Gothic ProN"/>
              </a:rPr>
              <a:t>第2回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2926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400" b="1">
                <a:solidFill>
                  <a:srgbClr val="FFFFFF"/>
                </a:solidFill>
                <a:latin typeface="Hiragino Maru Gothic ProN"/>
              </a:rPr>
              <a:t>インターネットって</a:t>
            </a:r>
          </a:p>
          <a:p>
            <a:pPr algn="ctr"/>
            <a:r>
              <a:rPr sz="8400" b="1">
                <a:solidFill>
                  <a:srgbClr val="FFFFFF"/>
                </a:solidFill>
                <a:latin typeface="Hiragino Maru Gothic ProN"/>
              </a:rPr>
              <a:t>なんだろう？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Hiragino Maru Gothic ProN"/>
              </a:rPr>
              <a:t>Webサイトはどこから来ている？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327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  <a:latin typeface="Hiragino Maru Gothic ProN"/>
              </a:rPr>
              <a:t>🌐  📡  🏬  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4ECDC4"/>
                </a:solidFill>
                <a:latin typeface="Hiragino Maru Gothic ProN"/>
              </a:rPr>
              <a:t>まえの回の 復習クイズ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6576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65760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600" b="0">
                <a:solidFill>
                  <a:srgbClr val="2A3D45"/>
                </a:solidFill>
                <a:latin typeface="Hiragino Maru Gothic ProN"/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0">
                <a:solidFill>
                  <a:srgbClr val="6C757D"/>
                </a:solidFill>
                <a:latin typeface="Hiragino Maru Gothic ProN"/>
              </a:rPr>
              <a:t>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6B6B"/>
                </a:solidFill>
                <a:latin typeface="Hiragino Maru Gothic ProN"/>
              </a:rPr>
              <a:t>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03120"/>
            <a:ext cx="36576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65760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600" b="0">
                <a:solidFill>
                  <a:srgbClr val="2A3D45"/>
                </a:solidFill>
                <a:latin typeface="Hiragino Maru Gothic ProN"/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93192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0">
                <a:solidFill>
                  <a:srgbClr val="6C757D"/>
                </a:solidFill>
                <a:latin typeface="Hiragino Maru Gothic ProN"/>
              </a:rPr>
              <a:t>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38912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6B6B"/>
                </a:solidFill>
                <a:latin typeface="Hiragino Maru Gothic ProN"/>
              </a:rPr>
              <a:t>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103120"/>
            <a:ext cx="36576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77440"/>
            <a:ext cx="365760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600" b="0">
                <a:solidFill>
                  <a:srgbClr val="2A3D45"/>
                </a:solidFill>
                <a:latin typeface="Hiragino Maru Gothic ProN"/>
              </a:rPr>
              <a:t>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93192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0">
                <a:solidFill>
                  <a:srgbClr val="6C757D"/>
                </a:solidFill>
                <a:latin typeface="Hiragino Maru Gothic ProN"/>
              </a:rPr>
              <a:t>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38912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6B6B"/>
                </a:solidFill>
                <a:latin typeface="Hiragino Maru Gothic ProN"/>
              </a:rPr>
              <a:t>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2A3D45"/>
                </a:solidFill>
                <a:latin typeface="Hiragino Maru Gothic ProN"/>
              </a:rPr>
              <a:t>ヒント：「あたま・つくえ・本だな」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 /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4ECDC4"/>
                </a:solidFill>
                <a:latin typeface="Hiragino Maru Gothic ProN"/>
              </a:rPr>
              <a:t>こたえ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6576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6576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0">
                <a:solidFill>
                  <a:srgbClr val="2A3D45"/>
                </a:solidFill>
                <a:latin typeface="Hiragino Maru Gothic ProN"/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4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>
                <a:solidFill>
                  <a:srgbClr val="4ECDC4"/>
                </a:solidFill>
                <a:latin typeface="Hiragino Maru Gothic ProN"/>
              </a:rPr>
              <a:t>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2A3D45"/>
                </a:solidFill>
                <a:latin typeface="Hiragino Maru Gothic ProN"/>
              </a:rPr>
              <a:t>あたま・かんがえる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03120"/>
            <a:ext cx="36576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6576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0">
                <a:solidFill>
                  <a:srgbClr val="2A3D45"/>
                </a:solidFill>
                <a:latin typeface="Hiragino Maru Gothic ProN"/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74904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>
                <a:solidFill>
                  <a:srgbClr val="4ECDC4"/>
                </a:solidFill>
                <a:latin typeface="Hiragino Maru Gothic ProN"/>
              </a:rPr>
              <a:t>メモリ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48056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2A3D45"/>
                </a:solidFill>
                <a:latin typeface="Hiragino Maru Gothic ProN"/>
              </a:rPr>
              <a:t>つくえ・さぎょうする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103120"/>
            <a:ext cx="36576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77440"/>
            <a:ext cx="36576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0">
                <a:solidFill>
                  <a:srgbClr val="2A3D45"/>
                </a:solidFill>
                <a:latin typeface="Hiragino Maru Gothic ProN"/>
              </a:rPr>
              <a:t>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74904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>
                <a:solidFill>
                  <a:srgbClr val="4ECDC4"/>
                </a:solidFill>
                <a:latin typeface="Hiragino Maru Gothic ProN"/>
              </a:rPr>
              <a:t>ストレージ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48056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2A3D45"/>
                </a:solidFill>
                <a:latin typeface="Hiragino Maru Gothic ProN"/>
              </a:rPr>
              <a:t>本だな・おぼえる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3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4ECDC4"/>
                </a:solidFill>
                <a:latin typeface="Hiragino Maru Gothic ProN"/>
              </a:rPr>
              <a:t>きょうのゴール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103327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972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600" b="0">
                <a:solidFill>
                  <a:srgbClr val="2A3D45"/>
                </a:solidFill>
                <a:latin typeface="Hiragino Maru Gothic ProN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737360"/>
            <a:ext cx="86868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2A3D45"/>
                </a:solidFill>
                <a:latin typeface="Hiragino Maru Gothic ProN"/>
              </a:rPr>
              <a:t>インターネット のしくみが わかる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34639"/>
            <a:ext cx="103327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880359"/>
            <a:ext cx="10972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600" b="0">
                <a:solidFill>
                  <a:srgbClr val="2A3D45"/>
                </a:solidFill>
                <a:latin typeface="Hiragino Maru Gothic ProN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834639"/>
            <a:ext cx="86868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2A3D45"/>
                </a:solidFill>
                <a:latin typeface="Hiragino Maru Gothic ProN"/>
              </a:rPr>
              <a:t>Webサイト がどこから来ているか わかる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31920"/>
            <a:ext cx="103327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977640"/>
            <a:ext cx="10972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600" b="0">
                <a:solidFill>
                  <a:srgbClr val="2A3D45"/>
                </a:solidFill>
                <a:latin typeface="Hiragino Maru Gothic ProN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931920"/>
            <a:ext cx="86868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2A3D45"/>
                </a:solidFill>
                <a:latin typeface="Hiragino Maru Gothic ProN"/>
              </a:rPr>
              <a:t>サーバー ってなにか わかる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029200"/>
            <a:ext cx="103327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074920"/>
            <a:ext cx="10972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600" b="0">
                <a:solidFill>
                  <a:srgbClr val="2A3D45"/>
                </a:solidFill>
                <a:latin typeface="Hiragino Maru Gothic ProN"/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029200"/>
            <a:ext cx="86868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2A3D45"/>
                </a:solidFill>
                <a:latin typeface="Hiragino Maru Gothic ProN"/>
              </a:rPr>
              <a:t>ブラウザで サイトを たんけん できる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4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4ECDC4"/>
                </a:solidFill>
                <a:latin typeface="Hiragino Maru Gothic ProN"/>
              </a:rP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1">
                <a:solidFill>
                  <a:srgbClr val="FFE66D"/>
                </a:solidFill>
                <a:latin typeface="Hiragino Maru Gothic ProN"/>
              </a:rPr>
              <a:t>インターネットってなに？</a:t>
            </a:r>
          </a:p>
        </p:txBody>
      </p:sp>
      <p:sp>
        <p:nvSpPr>
          <p:cNvPr id="5" name="Oval 4"/>
          <p:cNvSpPr/>
          <p:nvPr/>
        </p:nvSpPr>
        <p:spPr>
          <a:xfrm>
            <a:off x="9509760" y="548640"/>
            <a:ext cx="1097280" cy="109728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5303520"/>
            <a:ext cx="914400" cy="91440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5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4ECDC4"/>
                </a:solidFill>
                <a:latin typeface="Hiragino Maru Gothic ProN"/>
              </a:rPr>
              <a:t>まずは みんなに しつもん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0" b="0">
                <a:solidFill>
                  <a:srgbClr val="2A3D45"/>
                </a:solidFill>
                <a:latin typeface="Hiragino Maru Gothic ProN"/>
              </a:rPr>
              <a:t>📱   💻   🖥️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>
                <a:solidFill>
                  <a:srgbClr val="2A3D45"/>
                </a:solidFill>
                <a:latin typeface="Hiragino Maru Gothic ProN"/>
              </a:rPr>
              <a:t>きみのスマホやパソコンは、せかいの中で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572000"/>
            <a:ext cx="3657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572000"/>
            <a:ext cx="36576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FF6B6B"/>
                </a:solidFill>
                <a:latin typeface="Hiragino Maru Gothic ProN"/>
              </a:rPr>
              <a:t>ひとりぼっち？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4572000"/>
            <a:ext cx="3657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572000"/>
            <a:ext cx="36576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4ECDC4"/>
                </a:solidFill>
                <a:latin typeface="Hiragino Maru Gothic ProN"/>
              </a:rPr>
              <a:t>つながってる？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6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000" b="1">
                <a:solidFill>
                  <a:srgbClr val="4ECDC4"/>
                </a:solidFill>
                <a:latin typeface="Hiragino Maru Gothic ProN"/>
              </a:rPr>
              <a:t>こたえ：せかい中とつながっている！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2286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0" b="0">
                <a:solidFill>
                  <a:srgbClr val="2A3D45"/>
                </a:solidFill>
                <a:latin typeface="Hiragino Maru Gothic ProN"/>
              </a:rPr>
              <a:t>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>
                <a:solidFill>
                  <a:srgbClr val="2A3D45"/>
                </a:solidFill>
                <a:latin typeface="Hiragino Maru Gothic ProN"/>
              </a:rPr>
              <a:t>それを じつげんしているのが…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937760"/>
            <a:ext cx="6675120" cy="1371600"/>
          </a:xfrm>
          <a:prstGeom prst="round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4937760"/>
            <a:ext cx="667512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Hiragino Maru Gothic ProN"/>
              </a:rPr>
              <a:t>インターネット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7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000" b="1">
                <a:solidFill>
                  <a:srgbClr val="4ECDC4"/>
                </a:solidFill>
                <a:latin typeface="Hiragino Maru Gothic ProN"/>
              </a:rPr>
              <a:t>インターネット ＝ せかい中の道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2A3D45"/>
                </a:solidFill>
                <a:latin typeface="Hiragino Maru Gothic ProN"/>
              </a:rPr>
              <a:t>イメージ：パソコンとパソコンを 道路 でぜんぶつないだもの</a:t>
            </a:r>
          </a:p>
        </p:txBody>
      </p:sp>
      <p:sp>
        <p:nvSpPr>
          <p:cNvPr id="7" name="Oval 6"/>
          <p:cNvSpPr/>
          <p:nvPr/>
        </p:nvSpPr>
        <p:spPr>
          <a:xfrm>
            <a:off x="5358384" y="3474720"/>
            <a:ext cx="1463040" cy="146304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58384" y="3474720"/>
            <a:ext cx="146304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0">
                <a:solidFill>
                  <a:srgbClr val="2A3D45"/>
                </a:solidFill>
                <a:latin typeface="Hiragino Maru Gothic ProN"/>
              </a:rPr>
              <a:t>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2468880"/>
            <a:ext cx="3803904" cy="1737360"/>
          </a:xfrm>
          <a:prstGeom prst="line">
            <a:avLst/>
          </a:prstGeom>
          <a:ln w="38100">
            <a:solidFill>
              <a:srgbClr val="4EC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089904" y="2468880"/>
            <a:ext cx="3813048" cy="1737360"/>
          </a:xfrm>
          <a:prstGeom prst="line">
            <a:avLst/>
          </a:prstGeom>
          <a:ln w="38100">
            <a:solidFill>
              <a:srgbClr val="4EC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286000" y="4206240"/>
            <a:ext cx="3803904" cy="1737360"/>
          </a:xfrm>
          <a:prstGeom prst="line">
            <a:avLst/>
          </a:prstGeom>
          <a:ln w="38100">
            <a:solidFill>
              <a:srgbClr val="4EC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6089904" y="4206240"/>
            <a:ext cx="3813048" cy="1737360"/>
          </a:xfrm>
          <a:prstGeom prst="line">
            <a:avLst/>
          </a:prstGeom>
          <a:ln w="38100">
            <a:solidFill>
              <a:srgbClr val="4EC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737360" y="1920240"/>
            <a:ext cx="1097280" cy="1097280"/>
          </a:xfrm>
          <a:prstGeom prst="ellipse">
            <a:avLst/>
          </a:prstGeom>
          <a:solidFill>
            <a:srgbClr val="FFFFFF"/>
          </a:solidFill>
          <a:ln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192024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0">
                <a:solidFill>
                  <a:srgbClr val="2A3D45"/>
                </a:solidFill>
                <a:latin typeface="Hiragino Maru Gothic ProN"/>
              </a:rPr>
              <a:t>🏠</a:t>
            </a:r>
          </a:p>
        </p:txBody>
      </p:sp>
      <p:sp>
        <p:nvSpPr>
          <p:cNvPr id="15" name="Oval 14"/>
          <p:cNvSpPr/>
          <p:nvPr/>
        </p:nvSpPr>
        <p:spPr>
          <a:xfrm>
            <a:off x="9354312" y="1920240"/>
            <a:ext cx="1097280" cy="1097280"/>
          </a:xfrm>
          <a:prstGeom prst="ellipse">
            <a:avLst/>
          </a:prstGeom>
          <a:solidFill>
            <a:srgbClr val="FFFFFF"/>
          </a:solidFill>
          <a:ln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54312" y="192024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0">
                <a:solidFill>
                  <a:srgbClr val="2A3D45"/>
                </a:solidFill>
                <a:latin typeface="Hiragino Maru Gothic ProN"/>
              </a:rPr>
              <a:t>🏫</a:t>
            </a:r>
          </a:p>
        </p:txBody>
      </p:sp>
      <p:sp>
        <p:nvSpPr>
          <p:cNvPr id="17" name="Oval 16"/>
          <p:cNvSpPr/>
          <p:nvPr/>
        </p:nvSpPr>
        <p:spPr>
          <a:xfrm>
            <a:off x="1737360" y="5394960"/>
            <a:ext cx="1097280" cy="1097280"/>
          </a:xfrm>
          <a:prstGeom prst="ellipse">
            <a:avLst/>
          </a:prstGeom>
          <a:solidFill>
            <a:srgbClr val="FFFFFF"/>
          </a:solidFill>
          <a:ln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539496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0">
                <a:solidFill>
                  <a:srgbClr val="2A3D45"/>
                </a:solidFill>
                <a:latin typeface="Hiragino Maru Gothic ProN"/>
              </a:rPr>
              <a:t>🏢</a:t>
            </a:r>
          </a:p>
        </p:txBody>
      </p:sp>
      <p:sp>
        <p:nvSpPr>
          <p:cNvPr id="19" name="Oval 18"/>
          <p:cNvSpPr/>
          <p:nvPr/>
        </p:nvSpPr>
        <p:spPr>
          <a:xfrm>
            <a:off x="9354312" y="5394960"/>
            <a:ext cx="1097280" cy="1097280"/>
          </a:xfrm>
          <a:prstGeom prst="ellipse">
            <a:avLst/>
          </a:prstGeom>
          <a:solidFill>
            <a:srgbClr val="FFFFFF"/>
          </a:solidFill>
          <a:ln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54312" y="539496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0">
                <a:solidFill>
                  <a:srgbClr val="2A3D45"/>
                </a:solidFill>
                <a:latin typeface="Hiragino Maru Gothic ProN"/>
              </a:rPr>
              <a:t>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8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000" b="1">
                <a:solidFill>
                  <a:srgbClr val="4ECDC4"/>
                </a:solidFill>
                <a:latin typeface="Hiragino Maru Gothic ProN"/>
              </a:rPr>
              <a:t>インターネットでできること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3657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5600" b="0">
                <a:solidFill>
                  <a:srgbClr val="2A3D45"/>
                </a:solidFill>
                <a:latin typeface="Hiragino Maru Gothic ProN"/>
              </a:rPr>
              <a:t>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03120"/>
            <a:ext cx="22860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どうがを見る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37360"/>
            <a:ext cx="3657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109728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5600" b="0">
                <a:solidFill>
                  <a:srgbClr val="2A3D45"/>
                </a:solidFill>
                <a:latin typeface="Hiragino Maru Gothic ProN"/>
              </a:rPr>
              <a:t>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103120"/>
            <a:ext cx="22860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オンラインゲーム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657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109728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5600" b="0">
                <a:solidFill>
                  <a:srgbClr val="2A3D45"/>
                </a:solidFill>
                <a:latin typeface="Hiragino Maru Gothic ProN"/>
              </a:rPr>
              <a:t>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103120"/>
            <a:ext cx="22860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メッセージのやりとり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3657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23359"/>
            <a:ext cx="109728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5600" b="0">
                <a:solidFill>
                  <a:srgbClr val="2A3D45"/>
                </a:solidFill>
                <a:latin typeface="Hiragino Maru Gothic ProN"/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114799"/>
            <a:ext cx="22860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しらべものをする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749039"/>
            <a:ext cx="3657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4023359"/>
            <a:ext cx="109728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5600" b="0">
                <a:solidFill>
                  <a:srgbClr val="2A3D45"/>
                </a:solidFill>
                <a:latin typeface="Hiragino Maru Gothic ProN"/>
              </a:rPr>
              <a:t>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114799"/>
            <a:ext cx="22860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おかいもの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749039"/>
            <a:ext cx="3657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023359"/>
            <a:ext cx="109728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5600" b="0">
                <a:solidFill>
                  <a:srgbClr val="2A3D45"/>
                </a:solidFill>
                <a:latin typeface="Hiragino Maru Gothic ProN"/>
              </a:rPr>
              <a:t>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114799"/>
            <a:ext cx="22860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ビデオつうわ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6B6B"/>
                </a:solidFill>
                <a:latin typeface="Hiragino Maru Gothic ProN"/>
              </a:rPr>
              <a:t>ぜんぶ インターネット がはたらいてくれているよ！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9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54864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2000" b="1">
                <a:solidFill>
                  <a:srgbClr val="FFFFFF"/>
                </a:solidFill>
                <a:latin typeface="Hiragino Maru Gothic ProN"/>
              </a:rPr>
              <a:t>クイズ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000" b="1">
                <a:solidFill>
                  <a:srgbClr val="2A3D45"/>
                </a:solidFill>
                <a:latin typeface="Hiragino Maru Gothic ProN"/>
              </a:rPr>
              <a:t>これはインターネットがいる？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468880"/>
            <a:ext cx="42062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74320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0">
                <a:solidFill>
                  <a:srgbClr val="2A3D45"/>
                </a:solidFill>
                <a:latin typeface="Hiragino Maru Gothic ProN"/>
              </a:rPr>
              <a:t>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743200"/>
            <a:ext cx="27432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テレビでアニメ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468880"/>
            <a:ext cx="42062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0">
                <a:solidFill>
                  <a:srgbClr val="2A3D45"/>
                </a:solidFill>
                <a:latin typeface="Hiragino Maru Gothic ProN"/>
              </a:rPr>
              <a:t>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2743200"/>
            <a:ext cx="27432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YouTube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480560"/>
            <a:ext cx="42062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475488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0">
                <a:solidFill>
                  <a:srgbClr val="2A3D45"/>
                </a:solidFill>
                <a:latin typeface="Hiragino Maru Gothic ProN"/>
              </a:rPr>
              <a:t>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754880"/>
            <a:ext cx="27432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おうちでんわ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480560"/>
            <a:ext cx="42062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5488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0">
                <a:solidFill>
                  <a:srgbClr val="2A3D45"/>
                </a:solidFill>
                <a:latin typeface="Hiragino Maru Gothic ProN"/>
              </a:rPr>
              <a:t>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4754880"/>
            <a:ext cx="27432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LINEつうわ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10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4ECDC4"/>
                </a:solidFill>
                <a:latin typeface="Hiragino Maru Gothic ProN"/>
              </a:rPr>
              <a:t>こたえ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949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4ECDC4"/>
                </a:solidFill>
                <a:latin typeface="Hiragino Maru Gothic ProN"/>
              </a:rPr>
              <a:t>✅ インターネット いる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93776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・YouTubeでアニメ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・LINEでつうわ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3949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937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6B6B"/>
                </a:solidFill>
                <a:latin typeface="Hiragino Maru Gothic ProN"/>
              </a:rPr>
              <a:t>❌ いらない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493776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・テレビ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・おうちでんわ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23360"/>
            <a:ext cx="10972800" cy="2286000"/>
          </a:xfrm>
          <a:prstGeom prst="roundRect">
            <a:avLst/>
          </a:prstGeom>
          <a:solidFill>
            <a:srgbClr val="FFE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062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💡 ちがい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54880"/>
            <a:ext cx="1051560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YouTube：Webサイトからどうがを もらってる</a:t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LINEつうわ：メッセージをインターネットでおくってる</a:t>
            </a:r>
          </a:p>
          <a:p>
            <a:pPr algn="l"/>
            <a:r>
              <a:rPr sz="1800" b="0">
                <a:solidFill>
                  <a:srgbClr val="2A3D45"/>
                </a:solidFill>
                <a:latin typeface="Hiragino Maru Gothic ProN"/>
              </a:rPr>
              <a:t>テレビは「でんぱ」、おうちでんわは「でんわせん」、インターネットとはちがう道だよ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11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4ECDC4"/>
                </a:solidFill>
                <a:latin typeface="Hiragino Maru Gothic ProN"/>
              </a:rPr>
              <a:t>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1">
                <a:solidFill>
                  <a:srgbClr val="FFE66D"/>
                </a:solidFill>
                <a:latin typeface="Hiragino Maru Gothic ProN"/>
              </a:rPr>
              <a:t>Webサイトってどこから来るの？</a:t>
            </a:r>
          </a:p>
        </p:txBody>
      </p:sp>
      <p:sp>
        <p:nvSpPr>
          <p:cNvPr id="5" name="Oval 4"/>
          <p:cNvSpPr/>
          <p:nvPr/>
        </p:nvSpPr>
        <p:spPr>
          <a:xfrm>
            <a:off x="9509760" y="548640"/>
            <a:ext cx="1097280" cy="109728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5303520"/>
            <a:ext cx="914400" cy="91440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12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4ECDC4"/>
                </a:solidFill>
                <a:latin typeface="Hiragino Maru Gothic ProN"/>
              </a:rPr>
              <a:t>Webサイトって、なに？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2286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0" b="0">
                <a:solidFill>
                  <a:srgbClr val="2A3D45"/>
                </a:solidFill>
                <a:latin typeface="Hiragino Maru Gothic ProN"/>
              </a:rP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2A3D45"/>
                </a:solidFill>
                <a:latin typeface="Hiragino Maru Gothic ProN"/>
              </a:rPr>
              <a:t>ブラウザでみる、いろんなページのこと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6C757D"/>
                </a:solidFill>
                <a:latin typeface="Hiragino Maru Gothic ProN"/>
              </a:rPr>
              <a:t>れい：YouTube、Google、こどもニュース…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13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4ECDC4"/>
                </a:solidFill>
                <a:latin typeface="Hiragino Maru Gothic ProN"/>
              </a:rPr>
              <a:t>ブラウザ ＝ Webサイトをみる「窓」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6974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269748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0">
                <a:solidFill>
                  <a:srgbClr val="2A3D45"/>
                </a:solidFill>
                <a:latin typeface="Hiragino Maru Gothic ProN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A3D45"/>
                </a:solidFill>
                <a:latin typeface="Hiragino Maru Gothic ProN"/>
              </a:rPr>
              <a:t>Chrome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103120"/>
            <a:ext cx="26974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468880"/>
            <a:ext cx="269748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0">
                <a:solidFill>
                  <a:srgbClr val="2A3D45"/>
                </a:solidFill>
                <a:latin typeface="Hiragino Maru Gothic ProN"/>
              </a:rPr>
              <a:t>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411480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A3D45"/>
                </a:solidFill>
                <a:latin typeface="Hiragino Maru Gothic ProN"/>
              </a:rPr>
              <a:t>Firefox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26974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269748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0">
                <a:solidFill>
                  <a:srgbClr val="2A3D45"/>
                </a:solidFill>
                <a:latin typeface="Hiragino Maru Gothic ProN"/>
              </a:rPr>
              <a:t>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11480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A3D45"/>
                </a:solidFill>
                <a:latin typeface="Hiragino Maru Gothic ProN"/>
              </a:rPr>
              <a:t>Safari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2103120"/>
            <a:ext cx="26974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468880"/>
            <a:ext cx="269748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0">
                <a:solidFill>
                  <a:srgbClr val="2A3D45"/>
                </a:solidFill>
                <a:latin typeface="Hiragino Maru Gothic ProN"/>
              </a:rPr>
              <a:t>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411480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A3D45"/>
                </a:solidFill>
                <a:latin typeface="Hiragino Maru Gothic ProN"/>
              </a:rPr>
              <a:t>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2A3D45"/>
                </a:solidFill>
                <a:latin typeface="Hiragino Maru Gothic ProN"/>
              </a:rPr>
              <a:t>ぜんぶ「ブラウザ」のなかま。やっていることはおんなじ！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14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000" b="1">
                <a:solidFill>
                  <a:srgbClr val="4ECDC4"/>
                </a:solidFill>
                <a:latin typeface="Hiragino Maru Gothic ProN"/>
              </a:rPr>
              <a:t>URL ＝ Webサイトの「住所」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103120"/>
            <a:ext cx="9418320" cy="1280160"/>
          </a:xfrm>
          <a:prstGeom prst="roundRect">
            <a:avLst/>
          </a:prstGeom>
          <a:solidFill>
            <a:srgbClr val="2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941832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>
                <a:solidFill>
                  <a:srgbClr val="FFE66D"/>
                </a:solidFill>
                <a:latin typeface="Consolas"/>
              </a:rPr>
              <a:t>https://www.google.com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>
                <a:solidFill>
                  <a:srgbClr val="2A3D45"/>
                </a:solidFill>
                <a:latin typeface="Hiragino Maru Gothic ProN"/>
              </a:rPr>
              <a:t>おうちにじゅうしょがあるみたいに、Webサイトにも 住所 があるよ。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Hiragino Maru Gothic ProN"/>
              </a:rPr>
              <a:t>ブラウザに この住所をいれると、そのおうち（サイト）にいける！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15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4ECDC4"/>
                </a:solidFill>
                <a:latin typeface="Hiragino Maru Gothic ProN"/>
              </a:rPr>
              <a:t>では、Webサイトはどこにあるの？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2743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0" b="0">
                <a:solidFill>
                  <a:srgbClr val="2A3D45"/>
                </a:solidFill>
                <a:latin typeface="Hiragino Maru Gothic ProN"/>
              </a:rPr>
              <a:t>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>
                <a:solidFill>
                  <a:srgbClr val="2A3D45"/>
                </a:solidFill>
                <a:latin typeface="Hiragino Maru Gothic ProN"/>
              </a:rPr>
              <a:t>ブラウザの中？ パソコンの中？ クラウド？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16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4ECDC4"/>
                </a:solidFill>
                <a:latin typeface="Hiragino Maru Gothic ProN"/>
              </a:rPr>
              <a:t>こたえ：サーバー にある！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2560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0" b="0">
                <a:solidFill>
                  <a:srgbClr val="2A3D45"/>
                </a:solidFill>
                <a:latin typeface="Hiragino Maru Gothic ProN"/>
              </a:rPr>
              <a:t>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>
                <a:solidFill>
                  <a:srgbClr val="2A3D45"/>
                </a:solidFill>
                <a:latin typeface="Hiragino Maru Gothic ProN"/>
              </a:rPr>
              <a:t>サーバー ＝ せかいのどこかに ある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6B6B"/>
                </a:solidFill>
                <a:latin typeface="Hiragino Maru Gothic ProN"/>
              </a:rPr>
              <a:t>おおきなコンピューター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17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4ECDC4"/>
                </a:solidFill>
                <a:latin typeface="Hiragino Maru Gothic ProN"/>
              </a:rPr>
              <a:t>サーバーは「お店の倉庫」みたいなもの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400" b="0">
                <a:solidFill>
                  <a:srgbClr val="2A3D45"/>
                </a:solidFill>
                <a:latin typeface="Hiragino Maru Gothic ProN"/>
              </a:rPr>
              <a:t>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57400"/>
            <a:ext cx="40233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6B6B"/>
                </a:solidFill>
                <a:latin typeface="Hiragino Maru Gothic ProN"/>
              </a:rPr>
              <a:t>おみせ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493776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ねがいごとを いう人（お客さん）に、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しょうひんを わたす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/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れい：ハンバーガーやさん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949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400" b="0">
                <a:solidFill>
                  <a:srgbClr val="2A3D45"/>
                </a:solidFill>
                <a:latin typeface="Hiragino Maru Gothic ProN"/>
              </a:rPr>
              <a:t>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57400"/>
            <a:ext cx="40233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4ECDC4"/>
                </a:solidFill>
                <a:latin typeface="Hiragino Maru Gothic ProN"/>
              </a:rPr>
              <a:t>サーバー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926080"/>
            <a:ext cx="493776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ねがいごとを いう人（ブラウザ）に、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Webページを わたす</a:t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/>
            </a:r>
          </a:p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れい：YouTubeのサーバー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18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4ECDC4"/>
                </a:solidFill>
                <a:latin typeface="Hiragino Maru Gothic ProN"/>
              </a:rPr>
              <a:t>Webサイトが届くまで（劇場）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92808"/>
            <a:ext cx="640080" cy="502920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2000" b="1">
                <a:solidFill>
                  <a:srgbClr val="FFFFFF"/>
                </a:solidFill>
                <a:latin typeface="Hiragino Maru Gothic ProN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691640"/>
            <a:ext cx="82296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000" b="0">
                <a:solidFill>
                  <a:srgbClr val="2A3D45"/>
                </a:solidFill>
                <a:latin typeface="Hiragino Maru Gothic ProN"/>
              </a:rPr>
              <a:t>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645920"/>
            <a:ext cx="868680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2A3D45"/>
                </a:solidFill>
                <a:latin typeface="Hiragino Maru Gothic ProN"/>
              </a:rPr>
              <a:t>きみ：ブラウザに youtube.com といれる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640"/>
            <a:ext cx="10881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3081528"/>
            <a:ext cx="640080" cy="502920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2000" b="1">
                <a:solidFill>
                  <a:srgbClr val="FFFFFF"/>
                </a:solidFill>
                <a:latin typeface="Hiragino Maru Gothic ProN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880360"/>
            <a:ext cx="82296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000" b="0">
                <a:solidFill>
                  <a:srgbClr val="2A3D45"/>
                </a:solidFill>
                <a:latin typeface="Hiragino Maru Gothic ProN"/>
              </a:rPr>
              <a:t>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834640"/>
            <a:ext cx="868680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2A3D45"/>
                </a:solidFill>
                <a:latin typeface="Hiragino Maru Gothic ProN"/>
              </a:rPr>
              <a:t>ブラウザ → サーバー：「ページください」（リクエスト）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10881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4270248"/>
            <a:ext cx="640080" cy="502920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2000" b="1">
                <a:solidFill>
                  <a:srgbClr val="FFFFFF"/>
                </a:solidFill>
                <a:latin typeface="Hiragino Maru Gothic ProN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069080"/>
            <a:ext cx="82296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000" b="0">
                <a:solidFill>
                  <a:srgbClr val="2A3D45"/>
                </a:solidFill>
                <a:latin typeface="Hiragino Maru Gothic ProN"/>
              </a:rPr>
              <a:t>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023360"/>
            <a:ext cx="868680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2A3D45"/>
                </a:solidFill>
                <a:latin typeface="Hiragino Maru Gothic ProN"/>
              </a:rPr>
              <a:t>サーバー → ブラウザ：「はい、どうぞ！」（レスポンス）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12080"/>
            <a:ext cx="10881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5458968"/>
            <a:ext cx="640080" cy="502920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2000" b="1">
                <a:solidFill>
                  <a:srgbClr val="FFFFFF"/>
                </a:solidFill>
                <a:latin typeface="Hiragino Maru Gothic ProN"/>
              </a:rPr>
              <a:t>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257800"/>
            <a:ext cx="82296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000" b="0">
                <a:solidFill>
                  <a:srgbClr val="2A3D45"/>
                </a:solidFill>
                <a:latin typeface="Hiragino Maru Gothic ProN"/>
              </a:rPr>
              <a:t>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5212080"/>
            <a:ext cx="868680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2A3D45"/>
                </a:solidFill>
                <a:latin typeface="Hiragino Maru Gothic ProN"/>
              </a:rPr>
              <a:t>ブラウザ：うけとったページを画面にみせる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19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000" b="1">
                <a:solidFill>
                  <a:srgbClr val="4ECDC4"/>
                </a:solidFill>
                <a:latin typeface="Hiragino Maru Gothic ProN"/>
              </a:rPr>
              <a:t>このやりとりに、なまえがある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9377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0">
                <a:solidFill>
                  <a:srgbClr val="2A3D45"/>
                </a:solidFill>
                <a:latin typeface="Hiragino Maru Gothic ProN"/>
              </a:rPr>
              <a:t>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4ECDC4"/>
                </a:solidFill>
                <a:latin typeface="Hiragino Maru Gothic ProN"/>
              </a:rPr>
              <a:t>リクエスト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14800"/>
            <a:ext cx="49377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0">
                <a:solidFill>
                  <a:srgbClr val="2A3D45"/>
                </a:solidFill>
                <a:latin typeface="Hiragino Maru Gothic ProN"/>
              </a:rPr>
              <a:t>ブラウザが「ください」と</a:t>
            </a:r>
          </a:p>
          <a:p>
            <a:pPr algn="ctr"/>
            <a:r>
              <a:rPr sz="2000" b="0">
                <a:solidFill>
                  <a:srgbClr val="2A3D45"/>
                </a:solidFill>
                <a:latin typeface="Hiragino Maru Gothic ProN"/>
              </a:rPr>
              <a:t>サーバーに おねがいする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949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49377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0">
                <a:solidFill>
                  <a:srgbClr val="2A3D45"/>
                </a:solidFill>
                <a:latin typeface="Hiragino Maru Gothic ProN"/>
              </a:rP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383280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FF6B6B"/>
                </a:solidFill>
                <a:latin typeface="Hiragino Maru Gothic ProN"/>
              </a:rPr>
              <a:t>レスポンス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114800"/>
            <a:ext cx="49377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0">
                <a:solidFill>
                  <a:srgbClr val="2A3D45"/>
                </a:solidFill>
                <a:latin typeface="Hiragino Maru Gothic ProN"/>
              </a:rPr>
              <a:t>サーバーが「どうぞ」と</a:t>
            </a:r>
          </a:p>
          <a:p>
            <a:pPr algn="ctr"/>
            <a:r>
              <a:rPr sz="2000" b="0">
                <a:solidFill>
                  <a:srgbClr val="2A3D45"/>
                </a:solidFill>
                <a:latin typeface="Hiragino Maru Gothic ProN"/>
              </a:rPr>
              <a:t>ブラウザに こたえる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5760720"/>
            <a:ext cx="8503920" cy="822960"/>
          </a:xfrm>
          <a:prstGeom prst="roundRect">
            <a:avLst/>
          </a:prstGeom>
          <a:solidFill>
            <a:srgbClr val="FFE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5760720"/>
            <a:ext cx="85039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2A3D45"/>
                </a:solidFill>
                <a:latin typeface="Hiragino Maru Gothic ProN"/>
              </a:rPr>
              <a:t>💡 これがインターネットの 基本の会話 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20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54864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2000" b="1">
                <a:solidFill>
                  <a:srgbClr val="FFFFFF"/>
                </a:solidFill>
                <a:latin typeface="Hiragino Maru Gothic ProN"/>
              </a:rPr>
              <a:t>クイズ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2A3D45"/>
                </a:solidFill>
                <a:latin typeface="Hiragino Maru Gothic ProN"/>
              </a:rPr>
              <a:t>サーバーが止まると、どうなる？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33272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1554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2A3D45"/>
                </a:solidFill>
                <a:latin typeface="Hiragino Maru Gothic ProN"/>
              </a:rPr>
              <a:t>おみせの倉庫がお休みだと、しょうひんがおみせに届かない。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FF6B6B"/>
                </a:solidFill>
                <a:latin typeface="Hiragino Maru Gothic ProN"/>
              </a:rPr>
              <a:t>じゃあ、YouTubeのサーバーが止まると…？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21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4ECDC4"/>
                </a:solidFill>
                <a:latin typeface="Hiragino Maru Gothic ProN"/>
              </a:rPr>
              <a:t>こたえ：YouTubeが見られなくなる！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2286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0" b="0">
                <a:solidFill>
                  <a:srgbClr val="2A3D45"/>
                </a:solidFill>
                <a:latin typeface="Hiragino Maru Gothic ProN"/>
              </a:rPr>
              <a:t>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97680"/>
            <a:ext cx="103327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996696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2A3D45"/>
                </a:solidFill>
                <a:latin typeface="Hiragino Maru Gothic ProN"/>
              </a:rPr>
              <a:t>サーバーから レスポンス がもらえないと、Webサイトはひらけない。</a:t>
            </a:r>
          </a:p>
          <a:p>
            <a:pPr algn="ctr"/>
            <a:r>
              <a:rPr sz="2200" b="0">
                <a:solidFill>
                  <a:srgbClr val="2A3D45"/>
                </a:solidFill>
                <a:latin typeface="Hiragino Maru Gothic ProN"/>
              </a:rPr>
              <a:t/>
            </a:r>
          </a:p>
          <a:p>
            <a:pPr algn="ctr"/>
            <a:r>
              <a:rPr sz="2200" b="0">
                <a:solidFill>
                  <a:srgbClr val="2A3D45"/>
                </a:solidFill>
                <a:latin typeface="Hiragino Maru Gothic ProN"/>
              </a:rPr>
              <a:t>ニュースで「○○がダウン」と聞くのは、これのこと。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22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4ECDC4"/>
                </a:solidFill>
                <a:latin typeface="Hiragino Maru Gothic ProN"/>
              </a:rPr>
              <a:t>3. ハンズオン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1">
                <a:solidFill>
                  <a:srgbClr val="FFE66D"/>
                </a:solidFill>
                <a:latin typeface="Hiragino Maru Gothic ProN"/>
              </a:rPr>
              <a:t>やってみよう！</a:t>
            </a:r>
          </a:p>
        </p:txBody>
      </p:sp>
      <p:sp>
        <p:nvSpPr>
          <p:cNvPr id="5" name="Oval 4"/>
          <p:cNvSpPr/>
          <p:nvPr/>
        </p:nvSpPr>
        <p:spPr>
          <a:xfrm>
            <a:off x="9509760" y="548640"/>
            <a:ext cx="1097280" cy="109728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5303520"/>
            <a:ext cx="914400" cy="91440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23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6B6B"/>
                </a:solidFill>
                <a:latin typeface="Hiragino Maru Gothic ProN"/>
              </a:rPr>
              <a:t>ハンズオン ① URLを よく見てみよう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881360" cy="1280160"/>
          </a:xfrm>
          <a:prstGeom prst="roundRect">
            <a:avLst/>
          </a:prstGeom>
          <a:solidFill>
            <a:srgbClr val="2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FE66D"/>
                </a:solidFill>
                <a:latin typeface="Consolas"/>
              </a:rPr>
              <a:t>https://www.youtube.com/watch?v=abc123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108813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4ECDC4"/>
                </a:solidFill>
                <a:latin typeface="Consolas"/>
              </a:rPr>
              <a:t>https://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337560"/>
            <a:ext cx="58521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→ やくそく（プロトコル）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51960"/>
            <a:ext cx="108813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4ECDC4"/>
                </a:solidFill>
                <a:latin typeface="Consolas"/>
              </a:rPr>
              <a:t>www.youtube.com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389120"/>
            <a:ext cx="58521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→ サーバーの住所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303520"/>
            <a:ext cx="108813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4068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4ECDC4"/>
                </a:solidFill>
                <a:latin typeface="Consolas"/>
              </a:rPr>
              <a:t>/watch?v=abc123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5440680"/>
            <a:ext cx="58521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0">
                <a:solidFill>
                  <a:srgbClr val="2A3D45"/>
                </a:solidFill>
                <a:latin typeface="Hiragino Maru Gothic ProN"/>
              </a:rPr>
              <a:t>→ どのページか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24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6B6B"/>
                </a:solidFill>
                <a:latin typeface="Hiragino Maru Gothic ProN"/>
              </a:rPr>
              <a:t>ハンズオン ② サイトを たんけん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2A3D45"/>
                </a:solidFill>
                <a:latin typeface="Hiragino Maru Gothic ProN"/>
              </a:rPr>
              <a:t>ブラウザでひらいてみよう：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10881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000" b="0">
                <a:solidFill>
                  <a:srgbClr val="2A3D45"/>
                </a:solidFill>
                <a:latin typeface="Hiragino Maru Gothic ProN"/>
              </a:rPr>
              <a:t>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40"/>
            <a:ext cx="41148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Yahoo!きっず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37744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4ECDC4"/>
                </a:solidFill>
                <a:latin typeface="Consolas"/>
              </a:rPr>
              <a:t>kids.yahoo.co.jp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83280"/>
            <a:ext cx="10881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000" b="0">
                <a:solidFill>
                  <a:srgbClr val="2A3D45"/>
                </a:solidFill>
                <a:latin typeface="Hiragino Maru Gothic ProN"/>
              </a:rPr>
              <a:t>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74720"/>
            <a:ext cx="41148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NHK for school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47472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4ECDC4"/>
                </a:solidFill>
                <a:latin typeface="Consolas"/>
              </a:rPr>
              <a:t>www.nhk.or.jp/school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80560"/>
            <a:ext cx="10881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000" b="0">
                <a:solidFill>
                  <a:srgbClr val="2A3D45"/>
                </a:solidFill>
                <a:latin typeface="Hiragino Maru Gothic ProN"/>
              </a:rP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72000"/>
            <a:ext cx="41148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国立科学博物館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57200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4ECDC4"/>
                </a:solidFill>
                <a:latin typeface="Consolas"/>
              </a:rPr>
              <a:t>www.kahaku.go.jp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6B6B"/>
                </a:solidFill>
                <a:latin typeface="Hiragino Maru Gothic ProN"/>
              </a:rPr>
              <a:t>URLを じっと見てみよう。「.jp」「.com」 いろんなのがあるよ。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25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>
                <a:solidFill>
                  <a:srgbClr val="FF6B6B"/>
                </a:solidFill>
                <a:latin typeface="Hiragino Maru Gothic ProN"/>
              </a:rPr>
              <a:t>ハンズオン ③ 「ページの中身」をみてみよう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8813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51560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2A3D45"/>
                </a:solidFill>
                <a:latin typeface="Hiragino Maru Gothic ProN"/>
              </a:rPr>
              <a:t>ブラウザのページを みぎクリック → 「ページのソースを表示」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286000"/>
          </a:xfrm>
          <a:prstGeom prst="roundRect">
            <a:avLst/>
          </a:prstGeom>
          <a:solidFill>
            <a:srgbClr val="2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10515600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FFE66D"/>
                </a:solidFill>
                <a:latin typeface="Consolas"/>
              </a:rPr>
              <a:t>&lt;html&gt;</a:t>
            </a:r>
          </a:p>
          <a:p>
            <a:pPr algn="l"/>
            <a:r>
              <a:rPr sz="2000" b="0">
                <a:solidFill>
                  <a:srgbClr val="FFE66D"/>
                </a:solidFill>
                <a:latin typeface="Consolas"/>
              </a:rPr>
              <a:t>  &lt;head&gt;...&lt;/head&gt;</a:t>
            </a:r>
          </a:p>
          <a:p>
            <a:pPr algn="l"/>
            <a:r>
              <a:rPr sz="2000" b="0">
                <a:solidFill>
                  <a:srgbClr val="FFE66D"/>
                </a:solidFill>
                <a:latin typeface="Consolas"/>
              </a:rPr>
              <a:t>  &lt;body&gt;たくさんのもじ...&lt;/body&gt;</a:t>
            </a:r>
          </a:p>
          <a:p>
            <a:pPr algn="l"/>
            <a:r>
              <a:rPr sz="2000" b="0">
                <a:solidFill>
                  <a:srgbClr val="FFE66D"/>
                </a:solidFill>
                <a:latin typeface="Consolas"/>
              </a:rPr>
              <a:t>&lt;/html&gt;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4ECDC4"/>
                </a:solidFill>
                <a:latin typeface="Hiragino Maru Gothic ProN"/>
              </a:rPr>
              <a:t>✨ これがサーバーから来た HTML の正体！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26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>
                <a:solidFill>
                  <a:srgbClr val="FF6B6B"/>
                </a:solidFill>
                <a:latin typeface="Hiragino Maru Gothic ProN"/>
              </a:rPr>
              <a:t>ハンズオン ④ 開発者ツール（ちょっとだけ）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8813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2A3D45"/>
                </a:solidFill>
                <a:latin typeface="Hiragino Maru Gothic ProN"/>
              </a:rPr>
              <a:t>F12  または みぎクリック → 検証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08813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1051560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>
                <a:solidFill>
                  <a:srgbClr val="2A3D45"/>
                </a:solidFill>
                <a:latin typeface="Hiragino Maru Gothic ProN"/>
              </a:rPr>
              <a:t>「Network」タブをひらいて、ページを再読みこみ：</a:t>
            </a:r>
          </a:p>
          <a:p>
            <a:pPr algn="ctr"/>
            <a:r>
              <a:rPr sz="2000" b="0">
                <a:solidFill>
                  <a:srgbClr val="2A3D45"/>
                </a:solidFill>
                <a:latin typeface="Hiragino Maru Gothic ProN"/>
              </a:rPr>
              <a:t>→ リクエスト と レスポンス が ぜんぶ見える！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72000"/>
            <a:ext cx="10881360" cy="1554480"/>
          </a:xfrm>
          <a:prstGeom prst="round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881360" cy="1554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iragino Maru Gothic ProN"/>
              </a:rPr>
              <a:t>「ほんとうに サーバーとお話してた」が体感できる 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27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400" b="1">
                <a:solidFill>
                  <a:srgbClr val="FFE66D"/>
                </a:solidFill>
                <a:latin typeface="Hiragino Maru Gothic ProN"/>
              </a:rPr>
              <a:t>まとめ</a:t>
            </a:r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1097280" cy="109728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5303520"/>
            <a:ext cx="914400" cy="91440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28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4ECDC4"/>
                </a:solidFill>
                <a:latin typeface="Hiragino Maru Gothic ProN"/>
              </a:rPr>
              <a:t>きょう おぼえたこと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2980" y="1714500"/>
            <a:ext cx="777240" cy="77724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" y="171450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Hiragino Maru Gothic Pro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645920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インターネット ＝ せかい中をつなぐ「みち」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10881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2980" y="2811780"/>
            <a:ext cx="777240" cy="77724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2980" y="28117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Hiragino Maru Gothic Pro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743200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Webサイトは ブラウザでみる ページ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10881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2980" y="3909060"/>
            <a:ext cx="777240" cy="77724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" y="390906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Hiragino Maru Gothic Pro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840480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Webサイトは サーバー にある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37759"/>
            <a:ext cx="10881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2980" y="5006339"/>
            <a:ext cx="777240" cy="77724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" y="5006339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Hiragino Maru Gothic Pro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937759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A3D45"/>
                </a:solidFill>
                <a:latin typeface="Hiragino Maru Gothic ProN"/>
              </a:rPr>
              <a:t>ブラウザは リクエスト、サーバーは レスポンス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29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小学生プログラミング教室 ／ 第2回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Hiragino Maru Gothic ProN"/>
              </a:rPr>
              <a:t>インターネットとWebサイト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4ECDC4"/>
                </a:solidFill>
                <a:latin typeface="Hiragino Maru Gothic ProN"/>
              </a:rPr>
              <a:t>こんどは…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0" b="0">
                <a:solidFill>
                  <a:srgbClr val="2A3D45"/>
                </a:solidFill>
                <a:latin typeface="Hiragino Maru Gothic ProN"/>
              </a:rP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4ECDC4"/>
                </a:solidFill>
                <a:latin typeface="Hiragino Maru Gothic ProN"/>
              </a:rPr>
              <a:t>プログラミングって なんだろう？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0">
                <a:solidFill>
                  <a:srgbClr val="2A3D45"/>
                </a:solidFill>
                <a:latin typeface="Hiragino Maru Gothic ProN"/>
              </a:rPr>
              <a:t>コンピューターに 命令する ってどういうこと？を体験するよ！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C757D"/>
                </a:solidFill>
                <a:latin typeface="Hiragino Maru Gothic ProN"/>
              </a:rPr>
              <a:t>30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228600"/>
            <a:ext cx="2286000" cy="2286000"/>
          </a:xfrm>
          <a:prstGeom prst="ellipse">
            <a:avLst/>
          </a:prstGeom>
          <a:solidFill>
            <a:srgbClr val="FFE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4663440"/>
            <a:ext cx="1645920" cy="164592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Hiragino Maru Gothic ProN"/>
              </a:rPr>
              <a:t>きょうもおつかれさま！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Hiragino Maru Gothic ProN"/>
              </a:rPr>
              <a:t>また こんど！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